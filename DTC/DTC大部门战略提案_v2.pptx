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91440" cy="2926080"/>
          </a:xfrm>
          <a:prstGeom prst="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PingFang SC"/>
              </a:rPr>
              <a:t>Momcozy DTC 大部门战略提案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743200"/>
            <a:ext cx="822960" cy="365760"/>
          </a:xfrm>
          <a:prstGeom prst="round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800" b="0" i="1">
                <a:solidFill>
                  <a:srgbClr val="DEEBF7"/>
                </a:solidFill>
                <a:latin typeface="PingFang SC"/>
              </a:rPr>
              <a:t>站在公司全局视角 · 分析 DTC 整合的战略价值与组织优化建议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</a:rPr>
              <a:t>行业趋势  →  现状问题  →  目标拆解  →  解决方案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029200"/>
            <a:ext cx="2743200" cy="27432"/>
          </a:xfrm>
          <a:prstGeom prst="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1208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PingFang SC"/>
              </a:rPr>
              <a:t>汇报人：APP 事业部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PingFang SC"/>
              </a:rPr>
              <a:t>汇报对象：创始人 / 高管团队</a:t>
            </a:r>
          </a:p>
          <a:p>
            <a:pPr algn="l">
              <a:spcBef>
                <a:spcPts val="800"/>
              </a:spcBef>
            </a:pPr>
            <a:r>
              <a:rPr sz="1200" b="0" i="1">
                <a:solidFill>
                  <a:srgbClr val="FCE4C7"/>
                </a:solidFill>
                <a:latin typeface="PingFang SC"/>
              </a:rPr>
              <a:t>核心立场：不代表 APP 部门利益，代表「用户视角」与「公司全局视角」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3093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PingFang SC"/>
              </a:rPr>
              <a:t>2026/05/11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PingFang SC"/>
              </a:rPr>
              <a:t>MOMCOZY  DTC 大部门战略提案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PingFang SC"/>
              </a:rPr>
              <a:t>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PingFang SC"/>
              </a:rPr>
              <a:t>开篇 · 本次汇报的立场与逻辑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PingFang SC"/>
              </a:rPr>
              <a:t>不为部门发言 · 为公司全局发言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11430000" cy="1280160"/>
          </a:xfrm>
          <a:prstGeom prst="roundRect">
            <a:avLst/>
          </a:prstGeom>
          <a:solidFill>
            <a:srgbClr val="DEEBF7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152400" wrap="square"/>
          <a:lstStyle/>
          <a:p>
            <a:pPr algn="ctr"/>
            <a:r>
              <a:rPr sz="1200" b="1">
                <a:solidFill>
                  <a:srgbClr val="1F4E79"/>
                </a:solidFill>
                <a:latin typeface="PingFang SC"/>
              </a:rPr>
              <a:t>立场</a:t>
            </a:r>
          </a:p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1A1A1A"/>
                </a:solidFill>
                <a:latin typeface="PingFang SC"/>
              </a:rPr>
              <a:t>我作为 APP 事业部负责人提出这个方案 ——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F4E79"/>
                </a:solidFill>
                <a:latin typeface="PingFang SC"/>
              </a:rPr>
              <a:t>不代表 APP 部门利益，代表「用户视角」与「公司全局视角」。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PingFang SC"/>
              </a:rPr>
              <a:t>汇报逻辑链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840480"/>
            <a:ext cx="2651760" cy="6400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① 行业趋势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526280"/>
            <a:ext cx="2651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PingFang SC"/>
              </a:rPr>
              <a:t>为什么必须做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22092" y="4206240"/>
            <a:ext cx="128016" cy="320040"/>
          </a:xfrm>
          <a:prstGeom prst="rightArrow">
            <a:avLst/>
          </a:prstGeom>
          <a:solidFill>
            <a:srgbClr val="D9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54680" y="3840480"/>
            <a:ext cx="2651760" cy="64008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② 现状问题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526280"/>
            <a:ext cx="2651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PingFang SC"/>
              </a:rPr>
              <a:t>为什么现在做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11012" y="4206240"/>
            <a:ext cx="128016" cy="320040"/>
          </a:xfrm>
          <a:prstGeom prst="rightArrow">
            <a:avLst/>
          </a:prstGeom>
          <a:solidFill>
            <a:srgbClr val="D9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0" y="3840480"/>
            <a:ext cx="2651760" cy="640080"/>
          </a:xfrm>
          <a:prstGeom prst="round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③ 目标拆解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526280"/>
            <a:ext cx="2651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PingFang SC"/>
              </a:rPr>
              <a:t>做到什么程度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99932" y="4206240"/>
            <a:ext cx="128016" cy="320040"/>
          </a:xfrm>
          <a:prstGeom prst="rightArrow">
            <a:avLst/>
          </a:prstGeom>
          <a:solidFill>
            <a:srgbClr val="D9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32520" y="3840480"/>
            <a:ext cx="2651760" cy="640080"/>
          </a:xfrm>
          <a:prstGeom prst="roundRect">
            <a:avLst/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④ 解决方案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4526280"/>
            <a:ext cx="2651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PingFang SC"/>
              </a:rPr>
              <a:t>怎么做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39496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对应的 4 个部分 · 8 个核心 Slide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5760" y="5806440"/>
          <a:ext cx="114300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389120"/>
                <a:gridCol w="4297680"/>
              </a:tblGrid>
              <a:tr h="1714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第一部分 · 战略势能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Slide 1 范式转移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Slide 2 DTC 本质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</a:tr>
              <a:tr h="1714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第二部分 · 现状剖析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Slide 3 业务全景图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Slide 4 三大隐形成本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  <a:tr h="1714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第三部分 · 目标设定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Slide 5 北极星 + 增长公式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Slide 6 效率提升测算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</a:tr>
              <a:tr h="1714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第四部分 · 解决方案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Slide 7 组织架构（中台+Pod+Squad）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Slide 8 资源统筹与决策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PingFang SC"/>
              </a:rPr>
              <a:t>APP 事业部 · 代表「用户视角 + 全局视角」 · 2026/05/11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PingFang SC"/>
              </a:rPr>
              <a:t>MOMCOZY  DTC 大部门战略提案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PingFang SC"/>
              </a:rPr>
              <a:t>Part I · 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PingFang SC"/>
              </a:rPr>
              <a:t>Slide 1 · 全球品牌出海的范式转移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PingFang SC"/>
              </a:rPr>
              <a:t>从「渠道思维」到「品牌思维」 · DTC 占比已成品牌力核心指标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范式对比：上半场 vs 下半场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14884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94560"/>
                <a:gridCol w="2377440"/>
              </a:tblGrid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维度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上半场  2015-2022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下半场  2023+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核心战场</a:t>
                      </a:r>
                    </a:p>
                  </a:txBody>
                  <a:tcPr marL="76200" marR="76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Amazon / 第三方平台</a:t>
                      </a:r>
                    </a:p>
                  </a:txBody>
                  <a:tcPr marL="76200" marR="76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DTC 独立站 + APP + 私域</a:t>
                      </a:r>
                    </a:p>
                  </a:txBody>
                  <a:tcPr marL="76200" marR="76200" marT="50800" marB="50800" anchor="ctr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用户关系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平台的用户，品牌「租用」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品牌的用户，沉淀为资产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核心指标</a:t>
                      </a:r>
                    </a:p>
                  </a:txBody>
                  <a:tcPr marL="76200" marR="76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GMV、广告 ROI</a:t>
                      </a:r>
                    </a:p>
                  </a:txBody>
                  <a:tcPr marL="76200" marR="76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LTV、复购率、NPS</a:t>
                      </a:r>
                    </a:p>
                  </a:txBody>
                  <a:tcPr marL="76200" marR="76200" marT="50800" marB="50800" anchor="ctr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竞争壁垒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流量 + 供应链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品牌 + 用户资产 + 数据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估值逻辑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PE 8–15x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PE 25–40x（DTC 品牌溢价）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783080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行业标杆 DTC 占比对标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2148840"/>
          <a:ext cx="5577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2834640"/>
              </a:tblGrid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品牌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DTC 占比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启示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拓竹 Bambu Lab</a:t>
                      </a:r>
                    </a:p>
                  </a:txBody>
                  <a:tcPr marL="76200" marR="76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~50%</a:t>
                      </a:r>
                    </a:p>
                  </a:txBody>
                  <a:tcPr marL="76200" marR="76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用户社区 + 独立站 + APP 三位一体</a:t>
                      </a:r>
                    </a:p>
                  </a:txBody>
                  <a:tcPr marL="76200" marR="76200" marT="50800" marB="50800" anchor="ctr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大疆 DJI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~38%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旗舰店 + APP + 会员体系闭环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Anker 安克</a:t>
                      </a:r>
                    </a:p>
                  </a:txBody>
                  <a:tcPr marL="76200" marR="76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~35%</a:t>
                      </a:r>
                    </a:p>
                  </a:txBody>
                  <a:tcPr marL="76200" marR="76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强 DTC 投入，独立站 + 品牌站矩阵</a:t>
                      </a:r>
                    </a:p>
                  </a:txBody>
                  <a:tcPr marL="76200" marR="76200" marT="50800" marB="50800" anchor="ctr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SHARGE 闪极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~40%+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独立站 + APP + 社区一体化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Momcozy 当前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~10%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显著低于头部品牌，存在 3–4x 提升空间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5257800"/>
            <a:ext cx="11430000" cy="731520"/>
          </a:xfrm>
          <a:prstGeom prst="roundRect">
            <a:avLst/>
          </a:prstGeom>
          <a:solidFill>
            <a:srgbClr val="FBE5E1"/>
          </a:solidFill>
          <a:ln w="254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100" b="1" i="0">
                <a:solidFill>
                  <a:srgbClr val="C03A2B"/>
                </a:solidFill>
                <a:latin typeface="PingFang SC"/>
              </a:rPr>
              <a:t>关键差距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3200" b="1" i="0">
                <a:solidFill>
                  <a:srgbClr val="C03A2B"/>
                </a:solidFill>
                <a:latin typeface="PingFang SC"/>
              </a:rPr>
              <a:t>10% →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349240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PingFang SC"/>
              </a:rPr>
              <a:t>24 个月内，DTC 占比从 ~10% 提升至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687568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PingFang SC"/>
              </a:rPr>
              <a:t>这不是「高目标」——是出海品牌进入第二梯队的入场券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6126480"/>
            <a:ext cx="11430000" cy="36576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79"/>
                </a:solidFill>
                <a:latin typeface="PingFang SC"/>
              </a:rPr>
              <a:t>给老板的核心信息：DTC 占比 = 品牌资产健康度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PingFang SC"/>
              </a:rPr>
              <a:t>APP 事业部 · 代表「用户视角 + 全局视角」 · 2026/05/11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PingFang SC"/>
              </a:rPr>
              <a:t>MOMCOZY  DTC 大部门战略提案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PingFang SC"/>
              </a:rPr>
              <a:t>Part I · 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PingFang SC"/>
              </a:rPr>
              <a:t>Slide 2 · DTC 的本质 · 品牌护城河与用户资产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PingFang SC"/>
              </a:rPr>
              <a:t>DTC ≠ 一个销售渠道 · DTC = 品牌的用户资产运营中心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11430000" cy="822960"/>
          </a:xfrm>
          <a:prstGeom prst="roundRect">
            <a:avLst/>
          </a:prstGeom>
          <a:solidFill>
            <a:srgbClr val="DEEBF7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wrap="square"/>
          <a:lstStyle/>
          <a:p>
            <a:pPr algn="ctr"/>
            <a:r>
              <a:rPr sz="1300" b="1">
                <a:solidFill>
                  <a:srgbClr val="1F4E79"/>
                </a:solidFill>
                <a:latin typeface="PingFang SC"/>
              </a:rPr>
              <a:t>重新定义 DTC：　</a:t>
            </a:r>
            <a:r>
              <a:rPr sz="1600" b="1">
                <a:solidFill>
                  <a:srgbClr val="666666"/>
                </a:solidFill>
                <a:latin typeface="PingFang SC"/>
              </a:rPr>
              <a:t>DTC ≠ 销售渠道</a:t>
            </a:r>
            <a:r>
              <a:rPr sz="1400">
                <a:solidFill>
                  <a:srgbClr val="666666"/>
                </a:solidFill>
              </a:rPr>
              <a:t>　·　</a:t>
            </a:r>
            <a:r>
              <a:rPr sz="1800" b="1">
                <a:solidFill>
                  <a:srgbClr val="C03A2B"/>
                </a:solidFill>
                <a:latin typeface="PingFang SC"/>
              </a:rPr>
              <a:t>DTC = 品牌的用户资产运营中心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PingFang SC"/>
              </a:rPr>
              <a:t>三个本质价值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154680"/>
            <a:ext cx="3703320" cy="502920"/>
          </a:xfrm>
          <a:prstGeom prst="rect">
            <a:avLst/>
          </a:prstGeom>
          <a:solidFill>
            <a:srgbClr val="5B2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价值 1 · First-party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57600"/>
            <a:ext cx="3703320" cy="411480"/>
          </a:xfrm>
          <a:prstGeom prst="rect">
            <a:avLst/>
          </a:prstGeom>
          <a:solidFill>
            <a:srgbClr val="E8DEF0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5B2E8A"/>
                </a:solidFill>
                <a:latin typeface="PingFang SC"/>
              </a:rPr>
              <a:t>AI 时代唯一的护城河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14800"/>
            <a:ext cx="37033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wrap="square"/>
          <a:lstStyle/>
          <a:p>
            <a:pPr algn="ctr"/>
          </a:p>
          <a:p>
            <a:pPr algn="l"/>
            <a:r>
              <a:rPr sz="1000" b="0" i="0">
                <a:solidFill>
                  <a:srgbClr val="333333"/>
                </a:solidFill>
                <a:latin typeface="PingFang SC"/>
              </a:rPr>
              <a:t>• 平台数据：用户属于平台，品牌「借用」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DTC 数据：用户行为 / 偏好 / 生命周期阶段</a:t>
            </a:r>
          </a:p>
          <a:p>
            <a:pPr algn="l">
              <a:spcBef>
                <a:spcPts val="800"/>
              </a:spcBef>
            </a:pPr>
            <a:r>
              <a:rPr sz="1000" b="1" i="1">
                <a:solidFill>
                  <a:srgbClr val="5B2E8A"/>
                </a:solidFill>
                <a:latin typeface="PingFang SC"/>
              </a:rPr>
              <a:t>—— 这是 2026 AI Agent 战略的唯一弹药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257800"/>
            <a:ext cx="3429000" cy="822960"/>
          </a:xfrm>
          <a:prstGeom prst="rect">
            <a:avLst/>
          </a:prstGeom>
          <a:solidFill>
            <a:srgbClr val="E8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50" b="1">
                <a:solidFill>
                  <a:srgbClr val="5B2E8A"/>
                </a:solidFill>
                <a:latin typeface="PingFang SC"/>
              </a:rPr>
              <a:t>没有 DTC 数据闭环
AI 投入无法兑现价值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154680"/>
            <a:ext cx="370332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价值 2 · LTV &gt; GMV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3657600"/>
            <a:ext cx="3703320" cy="41148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79"/>
                </a:solidFill>
                <a:latin typeface="PingFang SC"/>
              </a:rPr>
              <a:t>LTV 取代 GMV 成为北极星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4114800"/>
            <a:ext cx="37033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wrap="square"/>
          <a:lstStyle/>
          <a:p>
            <a:pPr algn="ctr"/>
          </a:p>
          <a:p>
            <a:pPr algn="l"/>
            <a:r>
              <a:rPr sz="1000" b="0" i="0">
                <a:solidFill>
                  <a:srgbClr val="333333"/>
                </a:solidFill>
                <a:latin typeface="PingFang SC"/>
              </a:rPr>
              <a:t>• 平台思维：单次 GMV、ROAS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DTC 思维：24 月 LTV、复购率</a:t>
            </a:r>
          </a:p>
          <a:p>
            <a:pPr algn="l">
              <a:spcBef>
                <a:spcPts val="800"/>
              </a:spcBef>
            </a:pPr>
            <a:r>
              <a:rPr sz="1000" b="1" i="1">
                <a:solidFill>
                  <a:srgbClr val="1F4E79"/>
                </a:solidFill>
                <a:latin typeface="PingFang SC"/>
              </a:rPr>
              <a:t>—— 当 LTV 被准确度量，CAC 天花板就被打开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5257800"/>
            <a:ext cx="3429000" cy="8229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50" b="1">
                <a:solidFill>
                  <a:srgbClr val="1F4E79"/>
                </a:solidFill>
                <a:latin typeface="PingFang SC"/>
              </a:rPr>
              <a:t>这是 DTC 品牌跑得过
平台品牌的根本原因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154680"/>
            <a:ext cx="3703320" cy="502920"/>
          </a:xfrm>
          <a:prstGeom prst="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价值 3 · 估值溢价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657600"/>
            <a:ext cx="3703320" cy="411480"/>
          </a:xfrm>
          <a:prstGeom prst="rect">
            <a:avLst/>
          </a:prstGeom>
          <a:solidFill>
            <a:srgbClr val="FCE4C7"/>
          </a:solidFill>
          <a:ln w="12700">
            <a:solidFill>
              <a:srgbClr val="D9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D97B1F"/>
                </a:solidFill>
                <a:latin typeface="PingFang SC"/>
              </a:rPr>
              <a:t>品牌溢价的资本市场定价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114800"/>
            <a:ext cx="37033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wrap="square"/>
          <a:lstStyle/>
          <a:p>
            <a:pPr algn="ctr"/>
          </a:p>
          <a:p>
            <a:pPr algn="l"/>
            <a:r>
              <a:rPr sz="1000" b="0" i="0">
                <a:solidFill>
                  <a:srgbClr val="333333"/>
                </a:solidFill>
                <a:latin typeface="PingFang SC"/>
              </a:rPr>
              <a:t>• DTC 占比 +10% → 估值乘数 +1.5–2x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参考：Anker / 安踏 / Lululemon 上市估值逻辑</a:t>
            </a:r>
          </a:p>
          <a:p>
            <a:pPr algn="l">
              <a:spcBef>
                <a:spcPts val="800"/>
              </a:spcBef>
            </a:pPr>
            <a:r>
              <a:rPr sz="1000" b="1" i="1">
                <a:solidFill>
                  <a:srgbClr val="D97B1F"/>
                </a:solidFill>
                <a:latin typeface="PingFang SC"/>
              </a:rPr>
              <a:t>—— DTC 不只是利润中心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5257800"/>
            <a:ext cx="3429000" cy="822960"/>
          </a:xfrm>
          <a:prstGeom prst="rect">
            <a:avLst/>
          </a:prstGeom>
          <a:solidFill>
            <a:srgbClr val="FCE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50" b="1">
                <a:solidFill>
                  <a:srgbClr val="D97B1F"/>
                </a:solidFill>
                <a:latin typeface="PingFang SC"/>
              </a:rPr>
              <a:t>是未来融资 / 上市的
估值基础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309360"/>
            <a:ext cx="11430000" cy="36576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79"/>
                </a:solidFill>
                <a:latin typeface="PingFang SC"/>
              </a:rPr>
              <a:t>给老板的核心信息：DTC 不是一个部门的事 —— 是 Momcozy 从「母婴品牌」升级为「用户资产平台」的战略基础设施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PingFang SC"/>
              </a:rPr>
              <a:t>APP 事业部 · 代表「用户视角 + 全局视角」 · 2026/05/11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PingFang SC"/>
              </a:rPr>
              <a:t>MOMCOZY  DTC 大部门战略提案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PingFang SC"/>
              </a:rPr>
              <a:t>Part II · 4/13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PingFang SC"/>
              </a:rPr>
              <a:t>Slide 3 · 当前业务全景图 · 中立呈现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PingFang SC"/>
              </a:rPr>
              <a:t>问题不在于「谁做得不好」 · 而在于「组织结构与业务本质不匹配」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1143000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用户全生命周期：认知 → 兴趣 → 首购 → 使用 → 复购 → 忠诚 → 推荐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1605425" cy="36576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认知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8617" y="2194560"/>
            <a:ext cx="1605425" cy="36576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兴趣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1474" y="2194560"/>
            <a:ext cx="1605425" cy="36576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首购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64331" y="2194560"/>
            <a:ext cx="1605425" cy="36576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使用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97188" y="2194560"/>
            <a:ext cx="1605425" cy="36576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复购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0045" y="2194560"/>
            <a:ext cx="1605425" cy="36576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忠诚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2902" y="2194560"/>
            <a:ext cx="1605425" cy="36576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974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1" i="0">
                <a:solidFill>
                  <a:srgbClr val="C03A2B"/>
                </a:solidFill>
                <a:latin typeface="PingFang SC"/>
              </a:rPr>
              <a:t>当前组织切割（按触点 · 非按旅程）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17520"/>
            <a:ext cx="2194560" cy="777240"/>
          </a:xfrm>
          <a:prstGeom prst="round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流量部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404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  <a:latin typeface="PingFang SC"/>
              </a:rPr>
              <a:t>触点：认知-兴趣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3017520"/>
            <a:ext cx="219456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独立站部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8404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  <a:latin typeface="PingFang SC"/>
              </a:rPr>
              <a:t>触点：兴趣-首购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3017520"/>
            <a:ext cx="219456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独立站社区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8404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  <a:latin typeface="PingFang SC"/>
              </a:rPr>
              <a:t>触点：首购-使用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3017520"/>
            <a:ext cx="2194560" cy="777240"/>
          </a:xfrm>
          <a:prstGeom prst="roundRect">
            <a:avLst/>
          </a:prstGeom>
          <a:solidFill>
            <a:srgbClr val="5B2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APP 部
（含 APP 社区）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8404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  <a:latin typeface="PingFang SC"/>
              </a:rPr>
              <a:t>触点：使用-复购-忠诚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3017520"/>
            <a:ext cx="2194560" cy="777240"/>
          </a:xfrm>
          <a:prstGeom prst="roundRect">
            <a:avLst/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会员部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8404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  <a:latin typeface="PingFang SC"/>
              </a:rPr>
              <a:t>触点：复购-忠诚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3434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PingFang SC"/>
              </a:rPr>
              <a:t>中立判断：各部门在各自领域表现优秀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65760" y="4663440"/>
          <a:ext cx="64008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303520"/>
              </a:tblGrid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部门</a:t>
                      </a:r>
                    </a:p>
                  </a:txBody>
                  <a:tcPr marL="76200" marR="76200" marT="50800" marB="50800" anchor="ctr">
                    <a:solidFill>
                      <a:srgbClr val="387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优势 / 成果（事实陈述）</a:t>
                      </a:r>
                    </a:p>
                  </a:txBody>
                  <a:tcPr marL="76200" marR="76200" marT="50800" marB="50800" anchor="ctr">
                    <a:solidFill>
                      <a:srgbClr val="38761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流量部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SEM / SEO / 红人投放经验丰富，CAC 控制在行业合理水平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独立站部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站点 UX、转化漏斗持续优化，独立站社区已积累内容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APP 部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已升级为生态平台（IoT + AI + 社区 + 商城 + 会员），陪伴属性强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会员部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会员体系成型，私域召回能力建立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949440" y="4663440"/>
            <a:ext cx="4846320" cy="1417320"/>
          </a:xfrm>
          <a:prstGeom prst="roundRect">
            <a:avLst/>
          </a:prstGeom>
          <a:solidFill>
            <a:srgbClr val="FBE5E1"/>
          </a:solidFill>
          <a:ln w="254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 wrap="square"/>
          <a:lstStyle/>
          <a:p>
            <a:pPr algn="ctr"/>
            <a:r>
              <a:rPr sz="1200" b="1">
                <a:solidFill>
                  <a:srgbClr val="C03A2B"/>
                </a:solidFill>
                <a:latin typeface="PingFang SC"/>
              </a:rPr>
              <a:t>但缺乏「全局最优解」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业务本质：一个用户的「全生命周期」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组织现状：切成 4 段，每段背独立 KPI</a:t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C03A2B"/>
                </a:solidFill>
                <a:latin typeface="PingFang SC"/>
              </a:rPr>
              <a:t>必然结果：局部最优 ≠ 全局最优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6217920"/>
            <a:ext cx="11430000" cy="36576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79"/>
                </a:solidFill>
                <a:latin typeface="PingFang SC"/>
              </a:rPr>
              <a:t>给老板：这不是「批评谁」的汇报 —— 是「当业务规模到某个阶段，组织结构必须升级」的汇报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PingFang SC"/>
              </a:rPr>
              <a:t>APP 事业部 · 代表「用户视角 + 全局视角」 · 2026/05/11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PingFang SC"/>
              </a:rPr>
              <a:t>MOMCOZY  DTC 大部门战略提案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PingFang SC"/>
              </a:rPr>
              <a:t>Part II · 5/13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PingFang SC"/>
              </a:rPr>
              <a:t>Slide 4 · 三大隐形成本 · 散兵作战的代价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PingFang SC"/>
              </a:rPr>
              <a:t>体验割裂 · 资源浪费 · 决策延迟 —— 都指向同一个组织问题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703320" cy="45720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痛点 1 · 体验割裂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3703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C03A2B"/>
                </a:solidFill>
                <a:latin typeface="PingFang SC"/>
              </a:rPr>
              <a:t>→  用户流失风险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3703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ctr"/>
            <a:r>
              <a:rPr sz="1100" b="1">
                <a:solidFill>
                  <a:srgbClr val="C03A2B"/>
                </a:solidFill>
                <a:latin typeface="PingFang SC"/>
              </a:rPr>
              <a:t>● 事实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用户在独立站 ID-A / APP ID-B / 会员系统 ID-C ——
会员等级、成长值、黑卡身份互不互通</a:t>
            </a:r>
          </a:p>
          <a:p>
            <a:pPr algn="l">
              <a:spcBef>
                <a:spcPts val="1000"/>
              </a:spcBef>
            </a:pPr>
            <a:r>
              <a:rPr sz="1100" b="1" i="0">
                <a:solidFill>
                  <a:srgbClr val="C03A2B"/>
                </a:solidFill>
                <a:latin typeface="PingFang SC"/>
              </a:rPr>
              <a:t>● 典型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APP 累计消费 $800 的用户，回独立站仍按「新客」对待
—— 用户反馈：「是不是两个品牌？」</a:t>
            </a:r>
          </a:p>
          <a:p>
            <a:pPr algn="l">
              <a:spcBef>
                <a:spcPts val="1000"/>
              </a:spcBef>
            </a:pPr>
            <a:r>
              <a:rPr sz="1100" b="1" i="0">
                <a:solidFill>
                  <a:srgbClr val="C03A2B"/>
                </a:solidFill>
                <a:latin typeface="PingFang SC"/>
              </a:rPr>
              <a:t>● 隐形成本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ID 打通率 &lt; 30% · NPS 受损 · 高价值用户流失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737360"/>
            <a:ext cx="3703320" cy="457200"/>
          </a:xfrm>
          <a:prstGeom prst="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痛点 2 · 资源浪费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194560"/>
            <a:ext cx="3703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D97B1F"/>
                </a:solidFill>
                <a:latin typeface="PingFang SC"/>
              </a:rPr>
              <a:t>→  CAC 被内部抬升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651760"/>
            <a:ext cx="3703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ctr"/>
            <a:r>
              <a:rPr sz="1100" b="1">
                <a:solidFill>
                  <a:srgbClr val="D97B1F"/>
                </a:solidFill>
                <a:latin typeface="PingFang SC"/>
              </a:rPr>
              <a:t>● 事实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流量部买「baby bottle」 · APP 部买「baby tracker」
两个关键词在 Google Ads 后台互相竞价</a:t>
            </a:r>
          </a:p>
          <a:p>
            <a:pPr algn="l">
              <a:spcBef>
                <a:spcPts val="1000"/>
              </a:spcBef>
            </a:pPr>
            <a:r>
              <a:rPr sz="1100" b="1" i="0">
                <a:solidFill>
                  <a:srgbClr val="D97B1F"/>
                </a:solidFill>
                <a:latin typeface="PingFang SC"/>
              </a:rPr>
              <a:t>● 典型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2025 Q4 某月，独立站与 APP 在 Meta 投放受众重合 40%+
单次拉新成本环比 +18%（内部抢量造成）</a:t>
            </a:r>
          </a:p>
          <a:p>
            <a:pPr algn="l">
              <a:spcBef>
                <a:spcPts val="1000"/>
              </a:spcBef>
            </a:pPr>
            <a:r>
              <a:rPr sz="1100" b="1" i="0">
                <a:solidFill>
                  <a:srgbClr val="D97B1F"/>
                </a:solidFill>
                <a:latin typeface="PingFang SC"/>
              </a:rPr>
              <a:t>● 隐形成本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预算利用率 -15~20% · 不是市场没人，是我们自己挤自己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703320" cy="457200"/>
          </a:xfrm>
          <a:prstGeom prst="rect">
            <a:avLst/>
          </a:prstGeom>
          <a:solidFill>
            <a:srgbClr val="5B2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痛点 3 · 决策延迟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194560"/>
            <a:ext cx="3703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5B2E8A"/>
                </a:solidFill>
                <a:latin typeface="PingFang SC"/>
              </a:rPr>
              <a:t>→  错失市场窗口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651760"/>
            <a:ext cx="3703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ctr"/>
            <a:r>
              <a:rPr sz="1100" b="1">
                <a:solidFill>
                  <a:srgbClr val="5B2E8A"/>
                </a:solidFill>
                <a:latin typeface="PingFang SC"/>
              </a:rPr>
              <a:t>● 事实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一个大促需协调 4 个部门（流量 + 独立站 + APP + 会员）
决策周期 10–14 天</a:t>
            </a:r>
          </a:p>
          <a:p>
            <a:pPr algn="l">
              <a:spcBef>
                <a:spcPts val="1000"/>
              </a:spcBef>
            </a:pPr>
            <a:r>
              <a:rPr sz="1100" b="1" i="0">
                <a:solidFill>
                  <a:srgbClr val="5B2E8A"/>
                </a:solidFill>
                <a:latin typeface="PingFang SC"/>
              </a:rPr>
              <a:t>● 典型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2025 黑五：立项到上线 11 天 · APP 资源位排期冲突延期 3 天
最终 ROI 比预期低 22%</a:t>
            </a:r>
          </a:p>
          <a:p>
            <a:pPr algn="l">
              <a:spcBef>
                <a:spcPts val="1000"/>
              </a:spcBef>
            </a:pPr>
            <a:r>
              <a:rPr sz="1100" b="1" i="0">
                <a:solidFill>
                  <a:srgbClr val="5B2E8A"/>
                </a:solidFill>
                <a:latin typeface="PingFang SC"/>
              </a:rPr>
              <a:t>● 隐形成本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大促筹备期被内部流程吃掉 40% 时间 · 各打各的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292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三大痛点的本质归因（回到同一个根因）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349240"/>
          <a:ext cx="114300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6400800"/>
              </a:tblGrid>
              <a:tr h="2514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痛点</a:t>
                      </a:r>
                    </a:p>
                  </a:txBody>
                  <a:tcPr marL="76200" marR="76200" marT="50800" marB="50800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表面问题</a:t>
                      </a:r>
                    </a:p>
                  </a:txBody>
                  <a:tcPr marL="76200" marR="76200" marT="50800" marB="50800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本质问题</a:t>
                      </a:r>
                    </a:p>
                  </a:txBody>
                  <a:tcPr marL="76200" marR="76200" marT="50800" marB="50800" anchor="ctr">
                    <a:solidFill>
                      <a:srgbClr val="1A1A1A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PingFang SC"/>
                        </a:rPr>
                        <a:t>体验割裂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系统没打通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没有 One-ID 战略的组织主体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PingFang SC"/>
                        </a:rPr>
                        <a:t>资源浪费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投放重复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预算按部门切，不按 LTV 切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PingFang SC"/>
                        </a:rPr>
                        <a:t>决策延迟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协作慢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战役指挥权分散在 4 个部门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65760" y="6400800"/>
            <a:ext cx="11430000" cy="32004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给老板：三大痛点的根因都指向同一个问题 —— 组织没有「全局指挥官」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PingFang SC"/>
              </a:rPr>
              <a:t>MOMCOZY  DTC 大部门战略提案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PingFang SC"/>
              </a:rPr>
              <a:t>Part III · 6/13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PingFang SC"/>
              </a:rPr>
              <a:t>Slide 5 · 北极星目标 · 20% 的增长公式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PingFang SC"/>
              </a:rPr>
              <a:t>24 个月内 DTC 占比从 ~10% → 20% · 四个杠杆同时拉动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11430000" cy="1097280"/>
          </a:xfrm>
          <a:prstGeom prst="roundRect">
            <a:avLst/>
          </a:prstGeom>
          <a:solidFill>
            <a:srgbClr val="FBE5E1"/>
          </a:solidFill>
          <a:ln w="254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27000" wrap="square"/>
          <a:lstStyle/>
          <a:p>
            <a:pPr algn="ctr"/>
            <a:r>
              <a:rPr sz="1200" b="1">
                <a:solidFill>
                  <a:srgbClr val="C03A2B"/>
                </a:solidFill>
                <a:latin typeface="PingFang SC"/>
              </a:rPr>
              <a:t>北极星目标（North Star Metric）</a:t>
            </a:r>
          </a:p>
          <a:p>
            <a:pPr algn="l">
              <a:spcBef>
                <a:spcPts val="600"/>
              </a:spcBef>
            </a:pPr>
            <a:r>
              <a:rPr sz="1900" b="1" i="0">
                <a:solidFill>
                  <a:srgbClr val="1A1A1A"/>
                </a:solidFill>
                <a:latin typeface="PingFang SC"/>
              </a:rPr>
              <a:t>将 Momcozy 的 DTC 占比从 ~10% 提升至 20%（24 个月内）</a:t>
            </a:r>
          </a:p>
          <a:p>
            <a:pPr algn="l">
              <a:spcBef>
                <a:spcPts val="400"/>
              </a:spcBef>
            </a:pPr>
            <a:r>
              <a:rPr sz="1200" b="0" i="1">
                <a:solidFill>
                  <a:srgbClr val="333333"/>
                </a:solidFill>
                <a:latin typeface="PingFang SC"/>
              </a:rPr>
              <a:t>这不是靠「独立站更努力」达成 —— 是靠「四个杠杆同时拉动」达成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7180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增长公式（DTC GMV 拆解）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PingFang SC"/>
              </a:rPr>
              <a:t>DTC GMV =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337560"/>
            <a:ext cx="1280160" cy="548640"/>
          </a:xfrm>
          <a:prstGeom prst="round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新客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044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900" b="1" i="1">
                <a:solidFill>
                  <a:srgbClr val="D97B1F"/>
                </a:solidFill>
                <a:latin typeface="PingFang SC"/>
              </a:rPr>
              <a:t>增长中台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29000"/>
            <a:ext cx="164592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1500" b="1" i="0">
                <a:solidFill>
                  <a:srgbClr val="666666"/>
                </a:solidFill>
                <a:latin typeface="PingFang SC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912" y="3337560"/>
            <a:ext cx="1280160" cy="5486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首购 ARPU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39044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900" b="1" i="1">
                <a:solidFill>
                  <a:srgbClr val="2E75B6"/>
                </a:solidFill>
                <a:latin typeface="PingFang SC"/>
              </a:rPr>
              <a:t>首购 Pod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3429000"/>
            <a:ext cx="164592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1500" b="1" i="0">
                <a:solidFill>
                  <a:srgbClr val="666666"/>
                </a:solidFill>
                <a:latin typeface="PingFang SC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9664" y="3337560"/>
            <a:ext cx="1280160" cy="548640"/>
          </a:xfrm>
          <a:prstGeom prst="roundRect">
            <a:avLst/>
          </a:prstGeom>
          <a:solidFill>
            <a:srgbClr val="5B2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(1 + 复购)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4" y="39044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900" b="1" i="1">
                <a:solidFill>
                  <a:srgbClr val="5B2E8A"/>
                </a:solidFill>
                <a:latin typeface="PingFang SC"/>
              </a:rPr>
              <a:t>留存 Pod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3429000"/>
            <a:ext cx="164592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1500" b="1" i="0">
                <a:solidFill>
                  <a:srgbClr val="666666"/>
                </a:solidFill>
                <a:latin typeface="PingFang SC"/>
              </a:rPr>
              <a:t>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14416" y="3337560"/>
            <a:ext cx="1280160" cy="548640"/>
          </a:xfrm>
          <a:prstGeom prst="roundRect">
            <a:avLst/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留存率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4416" y="39044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900" b="1" i="1">
                <a:solidFill>
                  <a:srgbClr val="38761D"/>
                </a:solidFill>
                <a:latin typeface="PingFang SC"/>
              </a:rPr>
              <a:t>生态 Pod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976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PingFang SC"/>
              </a:rPr>
              <a:t>三条增长曲线（24 个月路径）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65760" y="4617720"/>
          <a:ext cx="5943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1188720"/>
                <a:gridCol w="2926080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阶段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时间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DTC 占比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核心动作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PingFang SC"/>
                        </a:rPr>
                        <a:t>基建期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ingFang SC"/>
                        </a:rPr>
                        <a:t>0–6 月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ingFang SC"/>
                        </a:rPr>
                        <a:t>10% → 12%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ingFang SC"/>
                        </a:rPr>
                        <a:t>One-ID 打通 · 组织整合落地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PingFang SC"/>
                        </a:rPr>
                        <a:t>协同期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ingFang SC"/>
                        </a:rPr>
                        <a:t>6–12 月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ingFang SC"/>
                        </a:rPr>
                        <a:t>12% → 16%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ingFang SC"/>
                        </a:rPr>
                        <a:t>战役制跑通 · UGC 反哺独立站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PingFang SC"/>
                        </a:rPr>
                        <a:t>放大期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ingFang SC"/>
                        </a:rPr>
                        <a:t>12–24 月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ingFang SC"/>
                        </a:rPr>
                        <a:t>16% → 20%+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ingFang SC"/>
                        </a:rPr>
                        <a:t>APP 生态价值释放 · AI Agent 驱动复购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92240" y="2971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关键增长杠杆（按优先级）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92240" y="333756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杠杆</a:t>
                      </a:r>
                    </a:p>
                  </a:txBody>
                  <a:tcPr marL="76200" marR="76200" marT="50800" marB="50800" anchor="ctr">
                    <a:solidFill>
                      <a:srgbClr val="D97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提升预期</a:t>
                      </a:r>
                    </a:p>
                  </a:txBody>
                  <a:tcPr marL="76200" marR="76200" marT="50800" marB="50800" anchor="ctr">
                    <a:solidFill>
                      <a:srgbClr val="D97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依赖条件</a:t>
                      </a:r>
                    </a:p>
                  </a:txBody>
                  <a:tcPr marL="76200" marR="76200" marT="50800" marB="50800" anchor="ctr">
                    <a:solidFill>
                      <a:srgbClr val="D97B1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① APP 用户回流独立站复购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复购率 +30%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One-ID 打通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② 独立站首购用户激活 APP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APP MAU +40%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战役制协同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③ 社区 UGC 反哺独立站落地页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独立站转化率 +15%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内容中台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④ AI Agent 驱动跨触点推荐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LTV +20%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数据中台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65760" y="6035040"/>
            <a:ext cx="11430000" cy="5029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79"/>
                </a:solidFill>
                <a:latin typeface="PingFang SC"/>
              </a:rPr>
              <a:t>给老板：20% 不是靠「独立站更努力」达成的 —— 四个杠杆都依赖「组织整合」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PingFang SC"/>
              </a:rPr>
              <a:t>APP 事业部 · 代表「用户视角 + 全局视角」 · 2026/05/11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PingFang SC"/>
              </a:rPr>
              <a:t>MOMCOZY  DTC 大部门战略提案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PingFang SC"/>
              </a:rPr>
              <a:t>Part III · 7/13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PingFang SC"/>
              </a:rPr>
              <a:t>Slide 6 · 整合后的效率提升 · 保守估计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PingFang SC"/>
              </a:rPr>
              <a:t>每项收益都有明确的来源与测算 · 12 个月 ROI 即为正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3736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103120"/>
                <a:gridCol w="1097280"/>
                <a:gridCol w="5486400"/>
              </a:tblGrid>
              <a:tr h="3860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指标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现状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整合后（12 个月）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提升幅度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收益来源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PingFang SC"/>
                        </a:rPr>
                        <a:t>独立站转化率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[基准]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+10% ~ +15%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社区 UGC 反哺 + APP 数据驱动推荐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PingFang SC"/>
                        </a:rPr>
                        <a:t>复购率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[基准]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+25% ~ +35%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高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One-ID 打通后跨触点召回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PingFang SC"/>
                        </a:rPr>
                        <a:t>CAC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[基准]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-15% ~ -20%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投放统一调度，避免内部互拍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PingFang SC"/>
                        </a:rPr>
                        <a:t>大促 ROI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[基准]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+20% ~ +25%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高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战役制，多触点合力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PingFang SC"/>
                        </a:rPr>
                        <a:t>营销人力成本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[基准]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-10% ~ -15%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内容 / 投放能力沉淀到中台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PingFang SC"/>
                        </a:rPr>
                        <a:t>决策周期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10–14 天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2–3 天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高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统一指挥，减少跨部门会议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PingFang SC"/>
                        </a:rPr>
                        <a:t>用户 NPS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[基准]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+10 ~ +15 分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体验一致性提升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PingFang SC"/>
                        </a:rPr>
                        <a:t>LTV（24 个月）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[基准]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+20% ~ +30%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★ 极高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ingFang SC"/>
                        </a:rPr>
                        <a:t>全生命周期运营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34924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投入产出测算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5669280"/>
          <a:ext cx="1143000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572000"/>
                <a:gridCol w="3657600"/>
              </a:tblGrid>
              <a:tr h="1554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项目</a:t>
                      </a:r>
                    </a:p>
                  </a:txBody>
                  <a:tcPr marL="76200" marR="76200" marT="50800" marB="50800" anchor="ctr">
                    <a:solidFill>
                      <a:srgbClr val="D97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投入</a:t>
                      </a:r>
                    </a:p>
                  </a:txBody>
                  <a:tcPr marL="76200" marR="76200" marT="50800" marB="50800" anchor="ctr">
                    <a:solidFill>
                      <a:srgbClr val="D97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回报周期</a:t>
                      </a:r>
                    </a:p>
                  </a:txBody>
                  <a:tcPr marL="76200" marR="76200" marT="50800" marB="50800" anchor="ctr">
                    <a:solidFill>
                      <a:srgbClr val="D97B1F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One-ID 技术建设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工程资源 3–6 个月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6 个月见效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组织调整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过渡期 3 个月 · 5–10% 人员流动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6–12 个月见效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中台搭建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团队 + 工具采购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9–12 个月见效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新 DTC Leader 招募 / 任命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1–2 个月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立即见效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6492240"/>
            <a:ext cx="11430000" cy="2743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给老板：这不是「赌一把」—— 即便按保守估计，12 个月 ROI 也是正的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PingFang SC"/>
              </a:rPr>
              <a:t>MOMCOZY  DTC 大部门战略提案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PingFang SC"/>
              </a:rPr>
              <a:t>Part IV · 8/13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PingFang SC"/>
              </a:rPr>
              <a:t>Slide 7 · 推荐架构 · 中台 + Pod + Squad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PingFang SC"/>
              </a:rPr>
              <a:t>从「按职能切」到「按用户周期切」 · 字节 / 阿里 / 美团反复验证的组织形态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737360"/>
            <a:ext cx="7589520" cy="457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DTC 战略委员会（创始人 + DTC Leader + CMO + CTO）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194560"/>
            <a:ext cx="0" cy="22860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2423160"/>
            <a:ext cx="11430000" cy="3337560"/>
          </a:xfrm>
          <a:prstGeom prst="roundRect">
            <a:avLst/>
          </a:prstGeom>
          <a:solidFill>
            <a:srgbClr val="DEEBF7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11155680" cy="3657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DTC 事业部（一个 Leader 统管）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100" b="1" i="1">
                <a:solidFill>
                  <a:srgbClr val="1F4E79"/>
                </a:solidFill>
                <a:latin typeface="PingFang SC"/>
              </a:rPr>
              <a:t>【横向中台】统一能力 · 服务所有 Pod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2720340" cy="365760"/>
          </a:xfrm>
          <a:prstGeom prst="rect">
            <a:avLst/>
          </a:prstGeom>
          <a:solidFill>
            <a:srgbClr val="5B2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用户资产中台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11880"/>
            <a:ext cx="27203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</a:rPr>
              <a:t>One-ID / CDP / 会员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4700" y="3246120"/>
            <a:ext cx="2720340" cy="365760"/>
          </a:xfrm>
          <a:prstGeom prst="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内容中台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4700" y="3611880"/>
            <a:ext cx="27203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</a:rPr>
              <a:t>PGC / UGC / AIGC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246120"/>
            <a:ext cx="2720340" cy="36576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增长中台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611880"/>
            <a:ext cx="27203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</a:rPr>
              <a:t>SEM / SEO / 红人 / 私域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38260" y="3246120"/>
            <a:ext cx="2720340" cy="365760"/>
          </a:xfrm>
          <a:prstGeom prst="rect">
            <a:avLst/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产品技术中台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38260" y="3611880"/>
            <a:ext cx="27203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</a:rPr>
              <a:t>独立站 / APP / 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5196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100" b="1" i="1">
                <a:solidFill>
                  <a:srgbClr val="1F4E79"/>
                </a:solidFill>
                <a:latin typeface="PingFang SC"/>
              </a:rPr>
              <a:t>【纵向 Pod】按用户旅程切分 · 端到端 KPI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72000"/>
            <a:ext cx="365760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拉新 Pod  ·  独立站主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56048"/>
            <a:ext cx="3657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2E75B6"/>
                </a:solidFill>
                <a:latin typeface="PingFang SC"/>
              </a:rPr>
              <a:t>认知 → 首购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230368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50" b="0">
                <a:solidFill>
                  <a:srgbClr val="333333"/>
                </a:solidFill>
                <a:latin typeface="PingFang SC"/>
              </a:rPr>
              <a:t>KPI
新客 GMV · CAC · 首购转化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4572000"/>
            <a:ext cx="3657600" cy="384048"/>
          </a:xfrm>
          <a:prstGeom prst="rect">
            <a:avLst/>
          </a:prstGeom>
          <a:solidFill>
            <a:srgbClr val="5B2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留存 Pod  ·  APP 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4956048"/>
            <a:ext cx="3657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5B2E8A"/>
                </a:solidFill>
                <a:latin typeface="PingFang SC"/>
              </a:rPr>
              <a:t>首购 → 复购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5230368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50" b="0">
                <a:solidFill>
                  <a:srgbClr val="333333"/>
                </a:solidFill>
                <a:latin typeface="PingFang SC"/>
              </a:rPr>
              <a:t>KPI
MAU · 次购率 · LTV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572000"/>
            <a:ext cx="3657600" cy="384048"/>
          </a:xfrm>
          <a:prstGeom prst="rect">
            <a:avLst/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生态 Pod  ·  社区 + 私域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4956048"/>
            <a:ext cx="3657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38761D"/>
                </a:solidFill>
                <a:latin typeface="PingFang SC"/>
              </a:rPr>
              <a:t>忠诚 → 推荐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5230368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50" b="0">
                <a:solidFill>
                  <a:srgbClr val="333333"/>
                </a:solidFill>
                <a:latin typeface="PingFang SC"/>
              </a:rPr>
              <a:t>KPI
NPS · UGC 产出 · 老带新率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5760720"/>
            <a:ext cx="0" cy="22860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760" y="5989320"/>
            <a:ext cx="11430000" cy="502920"/>
          </a:xfrm>
          <a:prstGeom prst="round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【战役制 Campaign Squad】大促 / 新品上市临时组队：Pod 出 PM + 中台出资源 · 打完即散 · 避免常设组织僵化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6537960"/>
            <a:ext cx="11430000" cy="2743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能力沉淀到中台 · 指挥统一到 Pod · 战役灵活到 Squad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PingFang SC"/>
              </a:rPr>
              <a:t>MOMCOZY  DTC 大部门战略提案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PingFang SC"/>
              </a:rPr>
              <a:t>Part IV · 9/13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PingFang SC"/>
              </a:rPr>
              <a:t>Slide 7（续）· 现状部门的「再定位」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PingFang SC"/>
              </a:rPr>
              <a:t>对所有现有部门是「再定位」 · 不是「谁吃掉谁」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373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286000"/>
                <a:gridCol w="4754880"/>
              </a:tblGrid>
              <a:tr h="418011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现状部门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在新架构中的位置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能力去向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说明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PingFang SC"/>
                        </a:rPr>
                        <a:t>流量部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增长中台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横向能力沉淀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SEM / SEO / 红人经验服务所有 Pod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PingFang SC"/>
                        </a:rPr>
                        <a:t>独立站部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主导 拉新 Pod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端到端首购旅程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独立站仍是首购主阵地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PingFang SC"/>
                        </a:rPr>
                        <a:t>独立站社区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合并入 内容中台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内容资产统一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UGC 资产全链路打通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PingFang SC"/>
                        </a:rPr>
                        <a:t>APP 部</a:t>
                      </a:r>
                    </a:p>
                  </a:txBody>
                  <a:tcPr marL="76200" marR="76200" marT="50800" marB="50800" anchor="ctr">
                    <a:solidFill>
                      <a:srgbClr val="E8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主导 留存 Pod</a:t>
                      </a:r>
                    </a:p>
                  </a:txBody>
                  <a:tcPr marL="76200" marR="76200" marT="50800" marB="50800" anchor="ctr">
                    <a:solidFill>
                      <a:srgbClr val="E8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APP 生态价值释放</a:t>
                      </a:r>
                    </a:p>
                  </a:txBody>
                  <a:tcPr marL="76200" marR="76200" marT="50800" marB="50800" anchor="ctr">
                    <a:solidFill>
                      <a:srgbClr val="E8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IoT + AI + 内容 + 会员 合力</a:t>
                      </a:r>
                    </a:p>
                  </a:txBody>
                  <a:tcPr marL="76200" marR="76200" marT="50800" marB="50800" anchor="ctr">
                    <a:solidFill>
                      <a:srgbClr val="E8DEF0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PingFang SC"/>
                        </a:rPr>
                        <a:t>APP 社区</a:t>
                      </a:r>
                    </a:p>
                  </a:txBody>
                  <a:tcPr marL="76200" marR="76200" marT="50800" marB="50800" anchor="ctr">
                    <a:solidFill>
                      <a:srgbClr val="E8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合并入 内容中台</a:t>
                      </a:r>
                    </a:p>
                  </a:txBody>
                  <a:tcPr marL="76200" marR="76200" marT="50800" marB="50800" anchor="ctr">
                    <a:solidFill>
                      <a:srgbClr val="E8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一个社区，统一品牌声音</a:t>
                      </a:r>
                    </a:p>
                  </a:txBody>
                  <a:tcPr marL="76200" marR="76200" marT="50800" marB="50800" anchor="ctr">
                    <a:solidFill>
                      <a:srgbClr val="E8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避免两个社区内部博弈</a:t>
                      </a:r>
                    </a:p>
                  </a:txBody>
                  <a:tcPr marL="76200" marR="76200" marT="50800" marB="50800" anchor="ctr">
                    <a:solidFill>
                      <a:srgbClr val="E8DEF0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PingFang SC"/>
                        </a:rPr>
                        <a:t>会员部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进入 用户资产中台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会员体系全局化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One-ID 的承载主体</a:t>
                      </a:r>
                    </a:p>
                  </a:txBody>
                  <a:tcPr marL="76200" marR="76200" marT="50800" marB="50800" anchor="ctr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65760" y="4846320"/>
            <a:ext cx="11430000" cy="1463040"/>
          </a:xfrm>
          <a:prstGeom prst="roundRect">
            <a:avLst/>
          </a:prstGeom>
          <a:solidFill>
            <a:srgbClr val="E2EFDA"/>
          </a:solidFill>
          <a:ln w="25400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wrap="square"/>
          <a:lstStyle/>
          <a:p>
            <a:pPr algn="ctr"/>
            <a:r>
              <a:rPr sz="1200" b="1">
                <a:solidFill>
                  <a:srgbClr val="38761D"/>
                </a:solidFill>
                <a:latin typeface="PingFang SC"/>
              </a:rPr>
              <a:t>关键说明（中立性承诺）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A1A1A"/>
                </a:solidFill>
                <a:latin typeface="PingFang SC"/>
              </a:rPr>
              <a:t>这是「能力沉淀到中台、指挥统一到 Pod」的组织升级，不是部门合并或权力再分配。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333333"/>
                </a:solidFill>
                <a:latin typeface="PingFang SC"/>
              </a:rPr>
              <a:t>任何一个现有负责人都可能成为 Pod Leader / 中台 Head / 甚至 DTC Leader —— 我支持公司做最有利战略的选择。</a:t>
            </a:r>
          </a:p>
          <a:p>
            <a:pPr algn="l">
              <a:spcBef>
                <a:spcPts val="600"/>
              </a:spcBef>
            </a:pPr>
            <a:r>
              <a:rPr sz="1100" b="0" i="1">
                <a:solidFill>
                  <a:srgbClr val="666666"/>
                </a:solidFill>
                <a:latin typeface="PingFang SC"/>
              </a:rPr>
              <a:t>这是过去 5 年互联网行业（字节 / 阿里 / 美团）反复验证的高效组织形态。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446520"/>
            <a:ext cx="11430000" cy="3200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给老板：架构的本质是 —— 让能力沉淀到中台、让指挥统一到 Pod、让战役灵活到 Squad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PingFang SC"/>
              </a:rPr>
              <a:t>MOMCOZY  DTC 大部门战略提案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PingFang SC"/>
              </a:rPr>
              <a:t>Part IV · 10/13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PingFang SC"/>
              </a:rPr>
              <a:t>Slide 8 · 资源统筹与决策机制 · 三大统一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PingFang SC"/>
              </a:rPr>
              <a:t>预算池 · 数据看板 · 战役指挥 —— 把权力 / 预算 / 数据统一到一个 Leader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703320" cy="457200"/>
          </a:xfrm>
          <a:prstGeom prst="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统一 1 · 预算池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ctr"/>
            <a:r>
              <a:rPr sz="1000" b="1">
                <a:solidFill>
                  <a:srgbClr val="D97B1F"/>
                </a:solidFill>
                <a:latin typeface="PingFang SC"/>
              </a:rPr>
              <a:t>现状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按部门切（流量部 X / 独立站部 Y / APP 部 Z）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D97B1F"/>
                </a:solidFill>
                <a:latin typeface="PingFang SC"/>
              </a:rPr>
              <a:t>整合后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按 LTV 切（拉新 / 留存 / 生态 Pod）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D97B1F"/>
                </a:solidFill>
                <a:latin typeface="PingFang SC"/>
              </a:rPr>
              <a:t>调度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季度动态调整，依 ROI 再分配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D97B1F"/>
                </a:solidFill>
                <a:latin typeface="PingFang SC"/>
              </a:rPr>
              <a:t>决策人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DTC Leader + 战略委员会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737360"/>
            <a:ext cx="3703320" cy="457200"/>
          </a:xfrm>
          <a:prstGeom prst="rect">
            <a:avLst/>
          </a:prstGeom>
          <a:solidFill>
            <a:srgbClr val="5B2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统一 2 · 数据看板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19456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ctr"/>
            <a:r>
              <a:rPr sz="1000" b="1">
                <a:solidFill>
                  <a:srgbClr val="5B2E8A"/>
                </a:solidFill>
                <a:latin typeface="PingFang SC"/>
              </a:rPr>
              <a:t>核心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一张表：One-ID 下的用户分层 + LTV + 跨触点行为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5B2E8A"/>
                </a:solidFill>
                <a:latin typeface="PingFang SC"/>
              </a:rPr>
              <a:t>节奏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创始人 / CEO 每周只看一张表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5B2E8A"/>
                </a:solidFill>
                <a:latin typeface="PingFang SC"/>
              </a:rPr>
              <a:t>转变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独立站 GMV / APP MAU 从「KPI」变「结果指标」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5B2E8A"/>
                </a:solidFill>
                <a:latin typeface="PingFang SC"/>
              </a:rPr>
              <a:t>工具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CDP + BI + 统一归因模型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703320" cy="457200"/>
          </a:xfrm>
          <a:prstGeom prst="rect">
            <a:avLst/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统一 3 · 战役指挥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19456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ctr"/>
            <a:r>
              <a:rPr sz="1000" b="1">
                <a:solidFill>
                  <a:srgbClr val="38761D"/>
                </a:solidFill>
                <a:latin typeface="PingFang SC"/>
              </a:rPr>
              <a:t>拍板人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大促 / 新品节奏由 DTC Leader 拍板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8761D"/>
                </a:solidFill>
                <a:latin typeface="PingFang SC"/>
              </a:rPr>
              <a:t>触点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独立站首屏 / APP 开屏 / Feed / 会员 Push 统一编排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8761D"/>
                </a:solidFill>
                <a:latin typeface="PingFang SC"/>
              </a:rPr>
              <a:t>决策周期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14 天 → 2 天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8761D"/>
                </a:solidFill>
                <a:latin typeface="PingFang SC"/>
              </a:rPr>
              <a:t>配套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战役制 Squad · 打完即散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148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PingFang SC"/>
              </a:rPr>
              <a:t>权力下放原则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434840"/>
          <a:ext cx="5943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层级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决策权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DTC Leader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季度战略 · 预算分配 · 战役指挥 · Pod/中台负责人任命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Pod 负责人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Pod 内人员/资源调度 · 季度 KPI 达成路径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中台负责人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中台能力建设 · SLA · 服务标准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Squad PM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单次战役内的快速决策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492240" y="4114800"/>
            <a:ext cx="5303520" cy="2011680"/>
          </a:xfrm>
          <a:prstGeom prst="roundRect">
            <a:avLst/>
          </a:prstGeom>
          <a:solidFill>
            <a:srgbClr val="FBE5E1"/>
          </a:solidFill>
          <a:ln w="254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 wrap="square"/>
          <a:lstStyle/>
          <a:p>
            <a:pPr algn="ctr"/>
            <a:r>
              <a:rPr sz="1300" b="1">
                <a:solidFill>
                  <a:srgbClr val="C03A2B"/>
                </a:solidFill>
                <a:latin typeface="PingFang SC"/>
              </a:rPr>
              <a:t>DTC Leader 人选关键要素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全局视角 —— 不能是某触点出身的「部门墙」思维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数据驱动 —— 懂 LTV / CAC / 用户分层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战役指挥经验 —— 有端到端跑通大项目的能力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C03A2B"/>
                </a:solidFill>
                <a:latin typeface="PingFang SC"/>
              </a:rPr>
              <a:t>建议：内部竞聘 + 外部物色，并行推进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6217920"/>
            <a:ext cx="5303520" cy="274320"/>
          </a:xfrm>
          <a:prstGeom prst="roundRect">
            <a:avLst/>
          </a:prstGeom>
          <a:solidFill>
            <a:srgbClr val="FCE4C7"/>
          </a:solidFill>
          <a:ln w="12700">
            <a:solidFill>
              <a:srgbClr val="D9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D97B1F"/>
                </a:solidFill>
                <a:latin typeface="PingFang SC"/>
              </a:rPr>
              <a:t>90 天过渡：Day 0-30 组织稳定 · Day 31-60 中台 MVP · Day 61-90 首战验证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217920"/>
            <a:ext cx="5943600" cy="2743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1F4E79"/>
                </a:solidFill>
                <a:latin typeface="PingFang SC"/>
              </a:rPr>
              <a:t>给老板：核心是「权力 / 预算 / 数据三件事统一到一个 Leader」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PingFang SC"/>
              </a:rPr>
              <a:t>APP 事业部 · 代表「用户视角 + 全局视角」 · 2026/05/11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PingFang SC"/>
              </a:rPr>
              <a:t>MOMCOZY  DTC 大部门战略提案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PingFang SC"/>
              </a:rPr>
              <a:t>11/13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PingFang SC"/>
              </a:rPr>
              <a:t>总结 · 本次汇报的核心结论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PingFang SC"/>
              </a:rPr>
              <a:t>三句话 + 三个待决议题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PingFang SC"/>
              </a:rPr>
              <a:t>三句话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214884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148840"/>
            <a:ext cx="10652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76200" wrap="square"/>
          <a:lstStyle/>
          <a:p>
            <a:pPr algn="ctr"/>
            <a:r>
              <a:rPr sz="1400" b="1">
                <a:solidFill>
                  <a:srgbClr val="1F4E79"/>
                </a:solidFill>
                <a:latin typeface="PingFang SC"/>
              </a:rPr>
              <a:t>DTC 是必选项   —   </a:t>
            </a:r>
            <a:r>
              <a:rPr sz="1100">
                <a:solidFill>
                  <a:srgbClr val="333333"/>
                </a:solidFill>
                <a:latin typeface="PingFang SC"/>
              </a:rPr>
              <a:t>行业范式已切换，20% 占比是出海品牌的入场券 —— Momcozy 当前 ~10% 显著落后头部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926080"/>
            <a:ext cx="640080" cy="640080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926080"/>
            <a:ext cx="10652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76200" wrap="square"/>
          <a:lstStyle/>
          <a:p>
            <a:pPr algn="ctr"/>
            <a:r>
              <a:rPr sz="1400" b="1">
                <a:solidFill>
                  <a:srgbClr val="C03A2B"/>
                </a:solidFill>
                <a:latin typeface="PingFang SC"/>
              </a:rPr>
              <a:t>根因是组织   —   </a:t>
            </a:r>
            <a:r>
              <a:rPr sz="1100">
                <a:solidFill>
                  <a:srgbClr val="333333"/>
                </a:solidFill>
                <a:latin typeface="PingFang SC"/>
              </a:rPr>
              <a:t>体验割裂 / 资源浪费 / 决策延迟 —— 三大痛点都指向「组织没有全局指挥官」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3703320"/>
            <a:ext cx="640080" cy="640080"/>
          </a:xfrm>
          <a:prstGeom prst="ellipse">
            <a:avLst/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703320"/>
            <a:ext cx="10652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76200" wrap="square"/>
          <a:lstStyle/>
          <a:p>
            <a:pPr algn="ctr"/>
            <a:r>
              <a:rPr sz="1400" b="1">
                <a:solidFill>
                  <a:srgbClr val="38761D"/>
                </a:solidFill>
                <a:latin typeface="PingFang SC"/>
              </a:rPr>
              <a:t>解决方案是组织升级   —   </a:t>
            </a:r>
            <a:r>
              <a:rPr sz="1100">
                <a:solidFill>
                  <a:srgbClr val="333333"/>
                </a:solidFill>
                <a:latin typeface="PingFang SC"/>
              </a:rPr>
              <a:t>成立 DTC 大部门 · 「中台 + Pod + Squad」三层架构 · 统一预算 / 数据 / 指挥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1772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PingFang SC"/>
              </a:rPr>
              <a:t>建议下一步 · 三个待决议题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02920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040880"/>
                <a:gridCol w="1371600"/>
                <a:gridCol w="2286000"/>
              </a:tblGrid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#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议题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时间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决策人</a:t>
                      </a:r>
                    </a:p>
                  </a:txBody>
                  <a:tcPr marL="76200" marR="76200" marT="50800" marB="50800" anchor="ctr">
                    <a:solidFill>
                      <a:srgbClr val="1F4E79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PingFang SC"/>
                        </a:rPr>
                        <a:t>议题 1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是否将 DTC 整合列入 2026 战略重点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本月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创始人 / 战略委员会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PingFang SC"/>
                        </a:rPr>
                        <a:t>议题 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DTC Leader 人选讨论（内部竞聘 or 外部招募）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1 个月内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创始人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PingFang SC"/>
                        </a:rPr>
                        <a:t>议题 3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90 天过渡期方案细化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2 个月内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PingFang SC"/>
                        </a:rPr>
                        <a:t>候选 DTC Leader + HR</a:t>
                      </a:r>
                    </a:p>
                  </a:txBody>
                  <a:tcPr marL="76200" marR="76200" marT="50800" marB="50800" anchor="ctr">
                    <a:solidFill>
                      <a:srgbClr val="FCE4C7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65760" y="6492240"/>
            <a:ext cx="11430000" cy="2743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汇报结束 · 期待讨论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PingFang SC"/>
              </a:rPr>
              <a:t>MOMCOZY  DTC 大部门战略提案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PingFang SC"/>
              </a:rPr>
              <a:t>12/13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PingFang SC"/>
              </a:rPr>
              <a:t>最后的话 · 中立陈述（APP 负责人自白）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PingFang SC"/>
              </a:rPr>
              <a:t>我为什么会提出这个方案 · 以及我对结果的承诺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114300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04800" tIns="304800" wrap="square"/>
          <a:lstStyle/>
          <a:p>
            <a:pPr algn="ctr"/>
            <a:r>
              <a:rPr sz="1700" b="1">
                <a:solidFill>
                  <a:srgbClr val="1A1A1A"/>
                </a:solidFill>
                <a:latin typeface="PingFang SC"/>
              </a:rPr>
              <a:t>我作为 APP 负责人提出这个方案 ——</a:t>
            </a:r>
          </a:p>
          <a:p>
            <a:pPr algn="l">
              <a:spcBef>
                <a:spcPts val="1000"/>
              </a:spcBef>
            </a:pPr>
            <a:r>
              <a:rPr sz="2000" b="1" i="0">
                <a:solidFill>
                  <a:srgbClr val="C03A2B"/>
                </a:solidFill>
                <a:latin typeface="PingFang SC"/>
              </a:rPr>
              <a:t>不是为了让 APP 部门做大。</a:t>
            </a:r>
          </a:p>
          <a:p>
            <a:pPr algn="l"/>
            <a:r>
              <a:rPr sz="600" b="0" i="0">
                <a:solidFill>
                  <a:srgbClr val="666666"/>
                </a:solidFill>
                <a:latin typeface="PingFang SC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333333"/>
                </a:solidFill>
                <a:latin typeface="PingFang SC"/>
              </a:rPr>
              <a:t>而是因为 ——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PingFang SC"/>
              </a:rPr>
              <a:t>• APP 已升级为「用户陪伴 + 工具 + 内容 + 商城 + 会员」的资产平台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C03A2B"/>
                </a:solidFill>
                <a:latin typeface="PingFang SC"/>
              </a:rPr>
              <a:t>• 如果不整合：APP 生态价值将被组织墙锁死，2026 AI Agent 战略无法兑现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38761D"/>
                </a:solidFill>
                <a:latin typeface="PingFang SC"/>
              </a:rPr>
              <a:t>• 如果整合：整合后的 DTC 大部门 Leader 可以是任何最合适的人 —— 我支持公司做最有利战略的选择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73152" cy="374903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300" b="0" i="1">
                <a:solidFill>
                  <a:srgbClr val="666666"/>
                </a:solidFill>
                <a:latin typeface="PingFang SC"/>
              </a:rPr>
              <a:t>—— 立场诚恳 · 提案中立 · 只为公司战略做对的事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6446520"/>
            <a:ext cx="11430000" cy="320040"/>
          </a:xfrm>
          <a:prstGeom prst="round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APP 事业部 · 代表「用户视角」与「公司全局视角」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600" b="0" i="1">
                <a:solidFill>
                  <a:srgbClr val="FCE4C7"/>
                </a:solidFill>
                <a:latin typeface="PingFang SC"/>
              </a:rPr>
              <a:t>汇报结束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645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PingFang SC"/>
              </a:rPr>
              <a:t>期待讨论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4663440"/>
            <a:ext cx="1828800" cy="27432"/>
          </a:xfrm>
          <a:prstGeom prst="rect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300" b="0" i="0">
                <a:solidFill>
                  <a:srgbClr val="DEEBF7"/>
                </a:solidFill>
                <a:latin typeface="PingFang SC"/>
              </a:rPr>
              <a:t>① DTC 整合是否列入 2026 战略重点     ② DTC Leader 人选     ③ 90 天过渡期方案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100" b="0" i="1">
                <a:solidFill>
                  <a:srgbClr val="F2F2F2"/>
                </a:solidFill>
                <a:latin typeface="PingFang SC"/>
              </a:rPr>
              <a:t>APP 事业部  ·  代表「用户视角 + 全局视角」  ·  2026/05/11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