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91440" cy="2926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ingFang SC"/>
              </a:rPr>
              <a:t>Momcozy DTC 三大痛点解决方案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82296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700" b="0" i="1">
                <a:solidFill>
                  <a:srgbClr val="E8F5E9"/>
                </a:solidFill>
                <a:latin typeface="PingFang SC"/>
              </a:rPr>
              <a:t>用户体验 · 数据打通 · 内容社区 —— 聚焦三大核心痛点 · 一揽子解决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3 个中台  ·  1 个联合工作组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2743200" cy="274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ingFang SC"/>
              </a:rPr>
              <a:t>汇报人：APP 事业部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PingFang SC"/>
              </a:rPr>
              <a:t>汇报对象：创始人 / 高管团队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FDEBD0"/>
                </a:solidFill>
                <a:latin typeface="PingFang SC"/>
              </a:rPr>
              <a:t>立场：不代表 APP 部门利益 · 代表「用户视角 + 全局视角」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0936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0" i="0">
                <a:solidFill>
                  <a:srgbClr val="E8F5E9"/>
                </a:solidFill>
                <a:latin typeface="PingFang SC"/>
              </a:rPr>
              <a:t>2026/05/12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开篇 · 本次汇报的立场与逻辑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聚焦 DTC 三大核心痛点 · 一揽子解决 · 组织与业务同步落地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114300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tIns="1524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立场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A1A1A"/>
                </a:solidFill>
                <a:latin typeface="PingFang SC"/>
              </a:rPr>
              <a:t>我作为 APP 事业部负责人提出这个方案 ——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F4E2C"/>
                </a:solidFill>
                <a:latin typeface="PingFang SC"/>
              </a:rPr>
              <a:t>不代表 APP 部门利益，代表「用户视角」与「公司全局视角」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本次汇报逻辑链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2212848" cy="5029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① 现状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产品侧漏斗 + 组织侧分散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246120"/>
            <a:ext cx="2212848" cy="50292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② 痛点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用户体验 · 数据打通 · 内容社区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246120"/>
            <a:ext cx="2212848" cy="50292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③ 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3 中台 + 1 联合工作组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46120"/>
            <a:ext cx="2212848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④ 证明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APP 生态能力承接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246120"/>
            <a:ext cx="2212848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⑤ 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DTC 占比提升 · 转化率恢复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754880"/>
            <a:ext cx="11430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177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核心主张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三大痛点根因同源 —— 组织按「触点」切，不按「用户旅程」切；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F4E2C"/>
                </a:solidFill>
                <a:latin typeface="PingFang SC"/>
              </a:rPr>
              <a:t>因此解决方案必须是 —— 3 个中台统一底层能力 + 1 个联合工作组专攻独立站转化。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666666"/>
                </a:solidFill>
                <a:latin typeface="PingFang SC"/>
              </a:rPr>
              <a:t>APP 事业部过去 2 年在用户资产、内容、数据、AI 能力上的沉淀，是这 3 个中台能快速跑通的底座。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DTC 三大痛点解决方案 · v3 · 2026/05/12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现状一 · 产品侧：转化漏斗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流量池极大 · 但 Add-to-Cart 和 Checkout/Purchase 环节严重流失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840480" cy="685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1F4E2C"/>
                </a:solidFill>
                <a:latin typeface="PingFang SC"/>
              </a:rPr>
              <a:t>Session Start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1F4E2C"/>
                </a:solidFill>
                <a:latin typeface="PingFang SC"/>
              </a:rPr>
              <a:t>20,296,273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148840"/>
            <a:ext cx="3072384" cy="6858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View Product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8,524,113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5296" y="2880360"/>
            <a:ext cx="2304288" cy="685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Add to Cart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720,154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3332" y="3611880"/>
            <a:ext cx="1728216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Checkout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316,431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4343400"/>
            <a:ext cx="1152144" cy="6858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Purchase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131,670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17320"/>
            <a:ext cx="676656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554480"/>
            <a:ext cx="457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优秀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2704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1. Session Start  ·  流量池极大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85623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100%  |  表现评价：流量基数极高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651760"/>
            <a:ext cx="676656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60" y="2788920"/>
            <a:ext cx="457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合格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6148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2. View Product  ·  转化稳定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09067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42.0%  (Benchmark: 30%-45%)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86200"/>
            <a:ext cx="6766560" cy="118872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4023360"/>
            <a:ext cx="457200" cy="32004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99592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3. Add to Cart  ·  产品表达力不足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32511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8.4%  (Benchmark: 10%-15%)  |  诊断：信任度不足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120640"/>
            <a:ext cx="6766560" cy="118872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6360" y="5257800"/>
            <a:ext cx="457200" cy="32004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严重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23036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4 &amp; 5. Checkout &amp; Purchase  ·  流失极大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55955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加购后流失：CVR 43.9% vs BM 50-60%
支付/物流门槛过高：CVR 41.6% vs BM 50-70%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* 数据来源 GA（最近一年）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现状二 · 组织侧：分散作战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各部门本位视角 · 业务按触点切 · 缺乏统一目标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1 · 体验割裂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用户流失风险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账号与数据未完全打通；面向用户体验各自设计，风格体验流程各异；品牌体验一致性较弱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无品牌官网属性产品，统一传达品牌理念；APP 累计消费 $800 用户回独立站仍按「新客」对待；APP 跳转直独立站，体验割裂——用户反馈：「是不是两个品牌？」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基础体验割裂 · NPS 受损 · 高价值用户流失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2 · 资源浪费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重复投入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独立站与 APP 分别有 Community；各自规划，未充分考虑其他业务线调用与扩展；素材规划未充分考虑多个触点，无法重复使用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两个社区及团队；APP 接入商城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两个社区用户理解难度大，投入资源重复，未全局考量的架构方案导致新场景额外投入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3 · 决策延迟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错失市场窗口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快赢创新策略无法快速实施验证，需要多方评估、排期；新品大促、会员活动需协调多个部门，节奏慢，决策与实施周期拉长 1-2 周；步调排期统一难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痛点不能快速产品化传达给用户，资源利用 ROI 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3703320" cy="132588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4 · SOP 化率低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持续效率低、提效难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937760"/>
            <a:ext cx="7543800" cy="132588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日常活动、大促、内容管理、资源利用与调配等，无法形成高质量的 SOP，每一次都如第一次，缺乏有条不紊的节奏感，执行效果与团队士气双杀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每一次都如第一次一样的投入，质量不稳定，单个环节提效无意义化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分散作战，缺乏统一目标、全局组织、高效协作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解决方案 ·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3 个中台统一底层能力 · 1 个联合工作组专攻独立站转化漏斗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① 三大痛点（收敛范围）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3718560" cy="5943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1  ·  用户体验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C03A2B"/>
                </a:solidFill>
                <a:latin typeface="PingFang SC"/>
              </a:rPr>
              <a:t>体验割裂 · 转化流失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691640"/>
            <a:ext cx="3718560" cy="5943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2  ·  数据打通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48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E67E22"/>
                </a:solidFill>
                <a:latin typeface="PingFang SC"/>
              </a:rPr>
              <a:t>统一用户数据与洞察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91640"/>
            <a:ext cx="371856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3  ·  内容与社区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1F4E79"/>
                </a:solidFill>
                <a:latin typeface="PingFang SC"/>
              </a:rPr>
              <a:t>统一内容与社区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87880" y="2743200"/>
            <a:ext cx="274320" cy="320040"/>
          </a:xfrm>
          <a:prstGeom prst="down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943600" y="2743200"/>
            <a:ext cx="274320" cy="320040"/>
          </a:xfrm>
          <a:prstGeom prst="down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799320" y="2743200"/>
            <a:ext cx="274320" cy="320040"/>
          </a:xfrm>
          <a:prstGeom prst="down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② 三个中台（统一底层能力 · 服务整个 DTC 业务）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3718560" cy="45720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用户资产中台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3718560" cy="68580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2452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C03A2B"/>
                </a:solidFill>
                <a:latin typeface="PingFang SC"/>
              </a:rPr>
              <a:t>One-ID · CDP · 会员 · 生命周期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9884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统一用户资产 · 跨触点识别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1480" y="3657600"/>
            <a:ext cx="371856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内容中台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1480" y="4160520"/>
            <a:ext cx="3718560" cy="6858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2920" y="422452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  <a:latin typeface="PingFang SC"/>
              </a:rPr>
              <a:t>PGC · UGC · AIGC · 社区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2920" y="449884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内容与社区统一运营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3657600"/>
            <a:ext cx="371856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增长中台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4160520"/>
            <a:ext cx="3718560" cy="68580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422452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E67E22"/>
                </a:solidFill>
                <a:latin typeface="PingFang SC"/>
              </a:rPr>
              <a:t>SEM · SEO · 红人 · 私域 · 归因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449884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全域投放 · 数据洞察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③ 独立站 × APP 联合工作组（专攻独立站转化漏斗）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40680"/>
            <a:ext cx="11430000" cy="7772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016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独立站 × APP 联合工作组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E8F5E9"/>
                </a:solidFill>
                <a:latin typeface="PingFang SC"/>
              </a:rPr>
              <a:t>优化现有独立站体验 · 提升转化 · 同时适配 APP · 提升 DTC 整体业务占比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中台解决「底层能力统一」 · 联合工作组解决「顶层业务爆发力」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1 · 用户体验 → 用户资产中台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解决「体验割裂」· 承接 Add-to-Cart 信任度不足 + Checkout 流失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跨触点身份与数据分裂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独立站 ID-A / APP ID-B / 会员系统 ID-C 互不互通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APP 累计消费 $800 用户回独立站被识别为「新客」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会员等级 / 积分 / 优惠券跨触点不识别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直接拉低 Add-to-Cart（8.4% vs BM 10-15%）的信任度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用户资产中台 · 职能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One-ID 体系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站 / APP / 小程序 / 会员系统 统一身份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CDP 用户画像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行为 + 购买 + 设备数据统一沉淀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会员体系全局化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等级 / 积分 / 权益跨触点识别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生命周期管理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孕期 → 哺乳 → 断奶 → 二胎 精准标签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数据洞察服务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服务所有业务部门的数据底座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生态能力证明 · 为什么 APP 是天然底座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会员体系已成型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积分 + 等级 + 权益已运行 · 是 One-ID 的天然起点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IoT 设备绑定数据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M5 / M6 / M9 设备型号、使用时长、固件版本 —— 独立站从未拥有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生命周期行为数据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吸奶记录 / 喂养 / 睡眠 / 生长曲线 —— 独有的生命周期信号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AI Agent 已上线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智能客服 / 个性化推荐 · 可直接为独立站提供能力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高频触达能力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Push / 站内信 · 触达成本近 0 · 独立站做不到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用户资产中台的底层能力，APP 生态已跑通 60%+ —— 整合即用，无需从零建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2 · 数据打通 → 增长中台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解决「决策延迟 + 快赢难验证」· 投放统一 + 归因 + AB + AI 洞察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数据散落 · 决策慢 · 无法快赢验证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投放 / 归因 / AB 数据散在各部门，没有统一口径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新品大促 / 会员活动需协调多部门，决策周期 1-2 周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快赢创新策略无法快速实施验证 —— 窗口过了才上线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ROAS 被内部互拍拉低，快赢 ROI 持续偏低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增长中台 · 职能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全域投放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SEM / SEO / Meta / TikTok / 红人统一调度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统一归因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跨触点归因模型 · 避免内部抢量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AB 实验平台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任何触点都能快速跑 AB · 快赢验证 &lt; 3 天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私域 / EDM / Push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自动化营销引擎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增长数据洞察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每周一张表 · CEO 只看一张表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生态能力证明 · 数据与快赢验证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是高频数据源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DAU / 停留 / 行为事件埋点齐全 · 独立站只有 Session 和订单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AB 实验已跑通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APP 端每周上线多个 AB · 快赢验证周期 &lt; 3 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AI Agent 数据闭环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用户对话 + 反馈回流 · 产品 / 内容 / 投放 三方受益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CDP 用户分层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APP 端已完成基础用户标签体系 · 可直接输出给投放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Push 作为营销工具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触达时机 / 频次 / 转化 可被精细度量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增长中台的核心是「快赢验证」—— APP 是目前集团内唯一跑通快速 AB 的业务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3 · 内容与社区 → 内容中台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解决「两个社区重复投入」· UGC 资产化 · AI 创作工具化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两个社区 · 两个团队 · 两套资产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独立站社区与 APP 社区各自规划 · 内容池不互通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素材规划未充分考虑多个触点 · 无法重复使用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创作者 / UGC 身份被分裂，头部难被跨触点识别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资源重复投入 · 品牌声音不统一 · UGC 无法资产化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内容中台 · 职能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统一内容池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PGC / UGC / AIGC 全部沉淀到中台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双社区整合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独立站社区 + APP 社区 → 一个品牌社区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创作者激励体系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积分 / 打赏 / 分级 · 跨触点统一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AI 创作工具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AI 一键生成多触点素材（图 / 视频 / 文案）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内容数据服务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为投放 / 落地页 / Push 输出高转化素材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生态能力证明 · 内容与社区运营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社区已沉淀头部创作者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妈妈圈 / UGC / 问答 / 话题 持续运营 · 头部账号已成型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工具库反哺内容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8 个育儿计算器 / 吸奶记录 · 天然产生用户数据内容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AI 创作能力已就绪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AI Agent 可自动生成多格式素材（图文 / 短视频脚本）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内容分发矩阵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Push / Feed / 个性化推荐 · 已验证转化能力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生命周期内容推送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孕期 / 哺乳 / 断奶 精准内容 · 独立站 EDM 做不到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APP 社区是更活跃、更高频、更有 UGC 积累的一侧 —— 由 APP 主导内容中台最合理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APP 生态 · 六大底层能力总览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为什么 APP 是承接 3 个中台的天然底座 —— 过去 2 年已经搭完一半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880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PingFang SC"/>
              </a:rPr>
              <a:t>📱
高频触达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Push / 站内信 / 站内弹窗
触达成本近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672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6720" y="1371600"/>
            <a:ext cx="3688080" cy="73152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388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C03A2B"/>
                </a:solidFill>
                <a:latin typeface="PingFang SC"/>
              </a:rPr>
              <a:t>🔐
会员与 One-ID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积分 / 等级 / 权益已跑通
跨触点识别的起点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1371600"/>
            <a:ext cx="368808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  <a:latin typeface="PingFang SC"/>
              </a:rPr>
              <a:t>🏷️
行为数据 &amp; CDP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设备 + 行为 + 生命周期
独立站无法独立拥有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3688080" cy="73152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5B2E8A"/>
                </a:solidFill>
                <a:latin typeface="PingFang SC"/>
              </a:rPr>
              <a:t>🤖
AI Agent &amp; 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智能客服 / 个性化内容
已上线 · 可复用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672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6720" y="3566160"/>
            <a:ext cx="368808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388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PingFang SC"/>
              </a:rPr>
              <a:t>👥
社区与 UGC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388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妈妈圈 / 问答 / 话题
头部创作者已沉淀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7680" y="3566160"/>
            <a:ext cx="36880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84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PingFang SC"/>
              </a:rPr>
              <a:t>🧪
快赢 AB 实验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84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每周跑多个 AB
快赢验证周期 &lt; 3 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6126480"/>
            <a:ext cx="11430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这六大能力不是「APP 部门的能力」—— 是「公司 DTC 底层资产」
3 个中台只需要把这些能力从 APP 放大到全触点，无需从零建设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独立站 × APP 联合工作组 · 专攻转化漏斗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针对 Add-to-Cart 预警 + Checkout/Purchase 严重流失 · 3 个月快赢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143000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目标：3 个月内 Add-to-Cart CVR 8.4% → 12% · Checkout 43.9% → 52% · 最终 DTC 占比提升 3-5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工作组聚焦 3 个漏斗环节 · APP 能力直接回灌独立站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40280"/>
            <a:ext cx="3718560" cy="45720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🚨 Add to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CVR 8.4% → 目标 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根因：信任度不足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C03A2B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真实妈妈 UGC 回灌独立站 PDP（详情页）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识别「用户已有 M5」→ 独立站精准推荐配件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会员等级带回独立站，不再被当「新客」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AI 客服 SDK 嵌入独立站 PDP · 答疑秒回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1480" y="2240280"/>
            <a:ext cx="371856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⚠️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148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E67E22"/>
                </a:solidFill>
                <a:latin typeface="PingFang SC"/>
              </a:rPr>
              <a:t>CVR 43.9% → 目标 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根因：支付 / 登录门槛高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148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一键登录独立站（Sign in with Momcozy）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已存地址 / 支付方式 / 收货信息同步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已领取的优惠券在独立站结算自动识别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Push 购物车召回（弃单用户 2h 内推送）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2240280"/>
            <a:ext cx="37185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⚠️ Purchase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2E7D32"/>
                </a:solidFill>
                <a:latin typeface="PingFang SC"/>
              </a:rPr>
              <a:t>CVR 41.6% → 目标 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根因：物流 / 最后一步门槛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物流透明化 · APP 订单查询与独立站统一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内会员价在独立站结算同步呈现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积分可在独立站抵扣 · 拉高转化动机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失败订单回流 APP 继续推荐 · 不流失用户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联合工作组 = 独立站转化 + APP 能力 · 独立站负责页面，APP 负责身份 / 数据 / 内容 / 智能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新组织架构 · 3 中台 + 1 联合工作组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能力沉淀到中台 · 业务爆发靠联合组 · 现有部门「再定位」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234440"/>
            <a:ext cx="7589520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DTC 战略委员会（创始人 + DTC Leader + CMO + CTO）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691640"/>
            <a:ext cx="0" cy="228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1920240"/>
            <a:ext cx="7589520" cy="45720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DTC 事业部（一个 Leader 统管）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697480"/>
            <a:ext cx="9445752" cy="0"/>
          </a:xfrm>
          <a:prstGeom prst="line">
            <a:avLst/>
          </a:prstGeom>
          <a:ln w="2540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377440"/>
            <a:ext cx="0" cy="320040"/>
          </a:xfrm>
          <a:prstGeom prst="line">
            <a:avLst/>
          </a:prstGeom>
          <a:ln w="2540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08479.5" y="2697480"/>
            <a:ext cx="0.0" cy="137160"/>
          </a:xfrm>
          <a:prstGeom prst="line">
            <a:avLst/>
          </a:prstGeom>
          <a:ln w="19050">
            <a:solidFill>
              <a:srgbClr val="C03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5459" y="2834640"/>
            <a:ext cx="2606040" cy="64008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用户资产中台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459" y="3474720"/>
            <a:ext cx="26060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C03A2B"/>
                </a:solidFill>
                <a:latin typeface="PingFang SC"/>
              </a:rPr>
              <a:t>Head of CRM &amp;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459" y="379476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One-ID · CDP
会员 · 生命周期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459" y="4572000"/>
            <a:ext cx="26060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C03A2B"/>
                </a:solidFill>
                <a:latin typeface="PingFang SC"/>
              </a:rPr>
              <a:t>KPI
LTV · 复购 · 会员渗透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3391.5" y="2697480"/>
            <a:ext cx="0.0" cy="1371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30371" y="2834640"/>
            <a:ext cx="260604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内容中台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0371" y="3474720"/>
            <a:ext cx="26060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79"/>
                </a:solidFill>
                <a:latin typeface="PingFang SC"/>
              </a:rPr>
              <a:t>Head of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0371" y="379476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PGC · UGC · AIGC
社区 · 创作者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0371" y="4572000"/>
            <a:ext cx="26060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1F4E79"/>
                </a:solidFill>
                <a:latin typeface="PingFang SC"/>
              </a:rPr>
              <a:t>KPI
DAU · UGC · 内容 ROI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8303.5" y="2697480"/>
            <a:ext cx="0.0" cy="13716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55283" y="2834640"/>
            <a:ext cx="260604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增长中台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5283" y="3474720"/>
            <a:ext cx="26060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E67E22"/>
                </a:solidFill>
                <a:latin typeface="PingFang SC"/>
              </a:rPr>
              <a:t>Head of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5283" y="379476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SEM · SEO · 红人
归因 · AB · 私域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5283" y="4572000"/>
            <a:ext cx="26060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E67E22"/>
                </a:solidFill>
                <a:latin typeface="PingFang SC"/>
              </a:rPr>
              <a:t>KPI
CAC · ROAS · AB 频次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83215.5" y="2697480"/>
            <a:ext cx="0.0" cy="137160"/>
          </a:xfrm>
          <a:prstGeom prst="line">
            <a:avLst/>
          </a:prstGeom>
          <a:ln w="1905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880195" y="2834640"/>
            <a:ext cx="2606040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独立站 × APP
联合工作组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0195" y="3474720"/>
            <a:ext cx="26060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2C"/>
                </a:solidFill>
                <a:latin typeface="PingFang SC"/>
              </a:rPr>
              <a:t>Head of DTC Commerce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0195" y="379476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PingFang SC"/>
              </a:rPr>
              <a:t>转化漏斗优化
独立站 × APP 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80195" y="4572000"/>
            <a:ext cx="26060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1F4E2C"/>
                </a:solidFill>
                <a:latin typeface="PingFang SC"/>
              </a:rPr>
              <a:t>KPI
独立站 GMV · 转化率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578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现状部门的「再定位」（不是合并、不是裁撤）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流量部 → 增长中台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7838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独立站部 → 联合工作组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100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独立站社区 → 内容中台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362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APP 部 → 拆分：底层能力进 3 中台 · 业务协同进联合组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624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APP 社区 → 内容中台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886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会员部 → 用户资产中台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统一目标 · 全局组织 · 高效协作 —— 正面回应现状图的「分散作战」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预期成果 · 转化漏斗修复路径 + DTC 占比提升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3 个月快赢 · 6 个月见效 · 12 个月质变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转化漏斗 · 现状 → 12 个月后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5669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005840"/>
                <a:gridCol w="2468880"/>
              </a:tblGrid>
              <a:tr h="43107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环节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现状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12 月目标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提升来源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Session Start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20.3M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22M+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增长中台优化投放质量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View Product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42.0%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落地页素材（内容中台）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Add to Cart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8.4%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12%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APP 信任背书 + UGC 回灌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Checkout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43.9%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52%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APP 一键登录 / 支付 / 地址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Purchase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41.6%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55%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积分抵扣 + 会员价识别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最终转化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0.65%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1.5%+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整体 2.3x 提升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DTC 占比提升 · 阶段路径（24 个月）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097280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1 · 基建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554480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79"/>
                </a:solidFill>
                <a:latin typeface="PingFang SC"/>
              </a:rPr>
              <a:t>0–3 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54480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10% → 11%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1554480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联合工作组立项 · 3 中台筹建 · One-ID 启动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50008"/>
            <a:ext cx="1097280" cy="7498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2 · 快赢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350008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E67E22"/>
                </a:solidFill>
                <a:latin typeface="PingFang SC"/>
              </a:rPr>
              <a:t>3–6 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350008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E67E22"/>
                </a:solidFill>
                <a:latin typeface="PingFang SC"/>
              </a:rPr>
              <a:t>11% → 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350008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漏斗修复首轮 · Add-to-Cart 破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45536"/>
            <a:ext cx="1097280" cy="749808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3 · 协同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145536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5B2E8A"/>
                </a:solidFill>
                <a:latin typeface="PingFang SC"/>
              </a:rPr>
              <a:t>6–12 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145536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5B2E8A"/>
                </a:solidFill>
                <a:latin typeface="PingFang SC"/>
              </a:rPr>
              <a:t>13% → 16%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3145536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3 中台全运转 · APP 能力全量回灌独立站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41064"/>
            <a:ext cx="1097280" cy="749808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4 · 放大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941064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2C"/>
                </a:solidFill>
                <a:latin typeface="PingFang SC"/>
              </a:rPr>
              <a:t>12–24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41064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16% → 20%+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394106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AI Agent 全量驱动 · 站 / APP 深度融合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30000" cy="4572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E67E22"/>
                </a:solidFill>
                <a:latin typeface="PingFang SC"/>
              </a:rPr>
              <a:t>关键判断：这些提升不是「独立站更努力」就能得到 —— 必须靠 3 中台 + 联合工作组同步运行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三大中台各自的 Year 1 KPI 承诺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5760720"/>
          <a:ext cx="114300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用户资产中台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One-ID 打通率 ≥ 80% · 会员 GMV 渗透率 ≥ 50% · 复购 +25%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内容中台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双社区合并 · UGC 月产 +200% · 内容驱动转化率 +15%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增长中台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CAC -15~20% · 归因覆盖 ≥ 90% · AB 频次 ≥ 50/季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DTC 三大痛点解决方案 · v3 · 2026/05/12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下一步 · 三个待决议题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本次汇报期待创始人与高管团队在以下 3 个议题上形成共识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554480"/>
            <a:ext cx="914400" cy="914400"/>
          </a:xfrm>
          <a:prstGeom prst="ellipse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28016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1F4E2C"/>
                </a:solidFill>
                <a:latin typeface="PingFang SC"/>
              </a:rPr>
              <a:t>方向决议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是否将「3 中台 + 1 联合工作组」列入 2026 DTC 战略重点？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28016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⏰  本月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08026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👤  创始人 / 战略委员会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004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2608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E67E22"/>
                </a:solidFill>
                <a:latin typeface="PingFang SC"/>
              </a:rPr>
              <a:t>人选讨论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三个中台 Head + 联合工作组 Head 人选如何确定？
（内部竞聘 + 外部招募 · APP 事业部内部储备）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92608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⏰  1 个月内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72618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👤  创始人 + HR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846320"/>
            <a:ext cx="914400" cy="914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457200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1F4E79"/>
                </a:solidFill>
                <a:latin typeface="PingFang SC"/>
              </a:rPr>
              <a:t>过渡期方案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90 天过渡期：组织切换、KPI 双轨、首战验证
（联合工作组 3 个月内出转化漏斗修复首战果）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57200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⏰  2 个月内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537210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👤  候选 Leader + HR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立场诚恳 · 提案中立 · 只为公司战略做对的事 —— 期待讨论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600" b="0" i="1">
                <a:solidFill>
                  <a:srgbClr val="FDEBD0"/>
                </a:solidFill>
                <a:latin typeface="PingFang SC"/>
              </a:rPr>
              <a:t>汇报结束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PingFang SC"/>
              </a:rPr>
              <a:t>期待讨论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389120"/>
            <a:ext cx="1828800" cy="274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① 3 中台 + 1 联合工作组 是否列入战略重点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② 中台 / 联合组 Head 人选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③ 90 天过渡期方案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C8E6C9"/>
                </a:solidFill>
                <a:latin typeface="PingFang SC"/>
              </a:rPr>
              <a:t>APP 事业部  ·  代表「用户视角 + 全局视角」  ·  2026/05/12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