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91440" cy="29260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PingFang SC"/>
              </a:rPr>
              <a:t>Momcozy DTC 三大痛点解决方案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743200"/>
            <a:ext cx="822960" cy="3657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v4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700" b="0" i="1">
                <a:solidFill>
                  <a:srgbClr val="E8F5E9"/>
                </a:solidFill>
                <a:latin typeface="PingFang SC"/>
              </a:rPr>
              <a:t>用户体验 · 数据打通 · 内容社区 —— 聚焦三大核心痛点 · 一揽子解决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2 个中台  ·  1 个联合工作组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029200"/>
            <a:ext cx="2743200" cy="2743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PingFang SC"/>
              </a:rPr>
              <a:t>汇报人：APP 事业部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PingFang SC"/>
              </a:rPr>
              <a:t>汇报对象：创始人 / 高管团队</a:t>
            </a:r>
          </a:p>
          <a:p>
            <a:pPr algn="l">
              <a:spcBef>
                <a:spcPts val="800"/>
              </a:spcBef>
            </a:pPr>
            <a:r>
              <a:rPr sz="1200" b="0" i="1">
                <a:solidFill>
                  <a:srgbClr val="FDEBD0"/>
                </a:solidFill>
                <a:latin typeface="PingFang SC"/>
              </a:rPr>
              <a:t>立场：不代表 APP 部门利益 · 代表「用户视角 + 全局视角」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30936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100" b="0" i="0">
                <a:solidFill>
                  <a:srgbClr val="E8F5E9"/>
                </a:solidFill>
                <a:latin typeface="PingFang SC"/>
              </a:rPr>
              <a:t>2026/05/12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开篇 · 本次汇报的立场与逻辑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聚焦 DTC 三大核心痛点 · 一揽子解决 · 组织与业务同步落地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11430000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tIns="1524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立场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A1A1A"/>
                </a:solidFill>
                <a:latin typeface="PingFang SC"/>
              </a:rPr>
              <a:t>我作为 APP 事业部负责人提出这个方案 ——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F4E2C"/>
                </a:solidFill>
                <a:latin typeface="PingFang SC"/>
              </a:rPr>
              <a:t>不代表 APP 部门利益，代表「用户视角」与「公司全局视角」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ingFang SC"/>
              </a:rPr>
              <a:t>本次汇报逻辑链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46120"/>
            <a:ext cx="2212848" cy="50292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① 现状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794760"/>
            <a:ext cx="221284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PingFang SC"/>
              </a:rPr>
              <a:t>产品侧漏斗 + 组织侧分散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246120"/>
            <a:ext cx="2212848" cy="50292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② 痛点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794760"/>
            <a:ext cx="221284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PingFang SC"/>
              </a:rPr>
              <a:t>用户体验 · 数据打通 · 内容社区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246120"/>
            <a:ext cx="2212848" cy="50292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③ 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3794760"/>
            <a:ext cx="221284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PingFang SC"/>
              </a:rPr>
              <a:t>2 中台 + 1 联合工作组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246120"/>
            <a:ext cx="2212848" cy="5029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④ 证明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794760"/>
            <a:ext cx="221284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PingFang SC"/>
              </a:rPr>
              <a:t>APP 生态能力承接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3246120"/>
            <a:ext cx="2212848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⑤ 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3794760"/>
            <a:ext cx="221284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PingFang SC"/>
              </a:rPr>
              <a:t>DTC 占比提升 · 转化率恢复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754880"/>
            <a:ext cx="11430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177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核心主张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  <a:latin typeface="PingFang SC"/>
              </a:rPr>
              <a:t>三大痛点根因同源 —— 组织按「触点」切，不按「用户旅程」切；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F4E2C"/>
                </a:solidFill>
                <a:latin typeface="PingFang SC"/>
              </a:rPr>
              <a:t>因此解决方案分两层 —— 底层能力靠 2 个中台（用户资产 · 内容）· 业务战斗靠 1 个联合工作组（独立站 × APP）。</a:t>
            </a:r>
          </a:p>
          <a:p>
            <a:pPr algn="l">
              <a:spcBef>
                <a:spcPts val="800"/>
              </a:spcBef>
            </a:pPr>
            <a:r>
              <a:rPr sz="1200" b="0" i="1">
                <a:solidFill>
                  <a:srgbClr val="666666"/>
                </a:solidFill>
                <a:latin typeface="PingFang SC"/>
              </a:rPr>
              <a:t>APP 事业部过去 2 年在用户资产、内容、数据、AI 能力上的沉淀，是这 2 个中台能快速跑通的底座。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11430000" cy="2468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APP 事业部 · DTC 三大痛点解决方案 · v4 · 2026/05/12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现状一 · 产品侧：转化漏斗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流量池极大 · 但 Add-to-Cart 和 Checkout/Purchase 环节严重流失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840480" cy="6858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wrap="square"/>
          <a:lstStyle/>
          <a:p>
            <a:pPr algn="ctr"/>
            <a:r>
              <a:rPr sz="1000" b="1">
                <a:solidFill>
                  <a:srgbClr val="1F4E2C"/>
                </a:solidFill>
                <a:latin typeface="PingFang SC"/>
              </a:rPr>
              <a:t>Session Start</a:t>
            </a:r>
          </a:p>
          <a:p>
            <a:pPr algn="ctr">
              <a:spcBef>
                <a:spcPts val="200"/>
              </a:spcBef>
            </a:pPr>
            <a:r>
              <a:rPr sz="1500" b="1" i="0">
                <a:solidFill>
                  <a:srgbClr val="1F4E2C"/>
                </a:solidFill>
                <a:latin typeface="PingFang SC"/>
              </a:rPr>
              <a:t>20,296,273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148840"/>
            <a:ext cx="3072384" cy="68580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View Product</a:t>
            </a:r>
          </a:p>
          <a:p>
            <a:pPr algn="ctr"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8,524,113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5296" y="2880360"/>
            <a:ext cx="2304288" cy="685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Add to Cart</a:t>
            </a:r>
          </a:p>
          <a:p>
            <a:pPr algn="ctr"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720,154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3332" y="3611880"/>
            <a:ext cx="1728216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Checkout</a:t>
            </a:r>
          </a:p>
          <a:p>
            <a:pPr algn="ctr"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316,431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1368" y="4343400"/>
            <a:ext cx="1152144" cy="68580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Purchase</a:t>
            </a:r>
          </a:p>
          <a:p>
            <a:pPr algn="ctr"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PingFang SC"/>
              </a:rPr>
              <a:t>131,670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417320"/>
            <a:ext cx="6766560" cy="11887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60" y="1554480"/>
            <a:ext cx="457200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优秀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52704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1. Session Start  ·  流量池极大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856232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PingFang SC"/>
              </a:rPr>
              <a:t>CVR: 100%  |  表现评价：流量基数极高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651760"/>
            <a:ext cx="6766560" cy="11887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66360" y="2788920"/>
            <a:ext cx="457200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合格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76148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2. View Product  ·  转化稳定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090672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PingFang SC"/>
              </a:rPr>
              <a:t>CVR: 42.0%  (Benchmark: 30%-45%)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886200"/>
            <a:ext cx="6766560" cy="1188720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66360" y="4023360"/>
            <a:ext cx="457200" cy="32004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预警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99592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3. Add to Cart  ·  产品表达力不足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325112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PingFang SC"/>
              </a:rPr>
              <a:t>CVR: 8.4%  (Benchmark: 10%-15%)  |  诊断：信任度不足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5120640"/>
            <a:ext cx="6766560" cy="1188720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66360" y="5257800"/>
            <a:ext cx="457200" cy="32004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严重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523036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4 &amp; 5. Checkout &amp; Purchase  ·  流失极大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5559552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PingFang SC"/>
              </a:rPr>
              <a:t>加购后流失：CVR 43.9% vs BM 50-60%
支付/物流门槛过高：CVR 41.6% vs BM 50-70%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11430000" cy="2468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* 数据来源 GA（最近一年）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现状二 · 组织侧：分散作战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各部门本位视角 · 业务按触点切 · 缺乏统一目标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03320" cy="45720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痛点 1 · 体验割裂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20"/>
            <a:ext cx="3703320" cy="3657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→  用户流失风险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3703320" cy="251460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● 事实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账号与数据未完全打通；面向用户体验各自设计，风格体验流程各异；品牌体验一致性较弱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典型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无品牌官网属性产品，统一传达品牌理念；APP 累计消费 $800 用户回独立站仍按「新客」对待；APP 跳转直独立站，体验割裂——用户反馈：「是不是两个品牌？」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隐形成本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基础体验割裂 · NPS 受损 · 高价值用户流失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17320"/>
            <a:ext cx="3703320" cy="45720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痛点 2 · 资源浪费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874520"/>
            <a:ext cx="3703320" cy="3657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→  重复投入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286000"/>
            <a:ext cx="3703320" cy="251460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● 事实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独立站与 APP 分别有 Community；各自规划，未充分考虑其他业务线调用与扩展；素材规划未充分考虑多个触点，无法重复使用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典型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两个社区及团队；APP 接入商城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隐形成本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两个社区用户理解难度大，投入资源重复，未全局考量的架构方案导致新场景额外投入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3703320" cy="45720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痛点 3 · 决策延迟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74520"/>
            <a:ext cx="3703320" cy="3657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→  错失市场窗口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3703320" cy="251460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● 事实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快赢创新策略无法快速实施验证，需要多方评估、排期；新品大促、会员活动需协调多个部门，节奏慢，决策与实施周期拉长 1-2 周；步调排期统一难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隐形成本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痛点不能快速产品化传达给用户，资源利用 ROI 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60"/>
            <a:ext cx="3703320" cy="132588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3703320" cy="45720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痛点 4 · SOP 化率低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94960"/>
            <a:ext cx="3703320" cy="3657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→  持续效率低、提效难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4937760"/>
            <a:ext cx="7543800" cy="132588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● 事实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日常活动、大促、内容管理、资源利用与调配等，无法形成高质量的 SOP，每一次都如第一次，缺乏有条不紊的节奏感，执行效果与团队士气双杀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1F4E2C"/>
                </a:solidFill>
                <a:latin typeface="PingFang SC"/>
              </a:rPr>
              <a:t>● 隐形成本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每一次都如第一次一样的投入，质量不稳定，单个环节提效无意义化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分散作战，缺乏统一目标、全局组织、高效协作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解决方案 ·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4/13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2 中台统一底层能力（数据 + 内容） · 1 联合工作组专攻用户体验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ingFang SC"/>
              </a:rPr>
              <a:t>① 三大痛点（收敛范围）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3718560" cy="59436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痛点 1  ·  用户体验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100" b="0" i="1">
                <a:solidFill>
                  <a:srgbClr val="C03A2B"/>
                </a:solidFill>
                <a:latin typeface="PingFang SC"/>
              </a:rPr>
              <a:t>体验割裂 · 转化流失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1480" y="1691640"/>
            <a:ext cx="3718560" cy="5943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痛点 2  ·  数据打通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1480" y="233172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100" b="0" i="1">
                <a:solidFill>
                  <a:srgbClr val="E67E22"/>
                </a:solidFill>
                <a:latin typeface="PingFang SC"/>
              </a:rPr>
              <a:t>统一用户数据与洞察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1691640"/>
            <a:ext cx="3718560" cy="5943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痛点 3  ·  内容与社区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233172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100" b="0" i="1">
                <a:solidFill>
                  <a:srgbClr val="1F4E79"/>
                </a:solidFill>
                <a:latin typeface="PingFang SC"/>
              </a:rPr>
              <a:t>统一内容与社区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087880" y="2743200"/>
            <a:ext cx="274320" cy="320040"/>
          </a:xfrm>
          <a:prstGeom prst="downArrow">
            <a:avLst/>
          </a:prstGeom>
          <a:solidFill>
            <a:srgbClr val="1F4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943600" y="2743200"/>
            <a:ext cx="274320" cy="320040"/>
          </a:xfrm>
          <a:prstGeom prst="down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9799320" y="2743200"/>
            <a:ext cx="274320" cy="320040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ingFang SC"/>
              </a:rPr>
              <a:t>② 解决方案 · 2 个中台（底层能力）+ 1 个联合工作组（业务战斗）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57600"/>
            <a:ext cx="3718560" cy="50292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独立站 × APP
联合工作组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206240"/>
            <a:ext cx="3718560" cy="685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61104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1" i="0">
                <a:solidFill>
                  <a:srgbClr val="1F4E2C"/>
                </a:solidFill>
                <a:latin typeface="PingFang SC"/>
              </a:rPr>
              <a:t>漏斗修复 · 跨触点体验统一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44568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333333"/>
                </a:solidFill>
                <a:latin typeface="PingFang SC"/>
              </a:rPr>
              <a:t>业务战斗单元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1480" y="3657600"/>
            <a:ext cx="3718560" cy="5029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用户资产中台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1480" y="4206240"/>
            <a:ext cx="3718560" cy="68580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2920" y="4261104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1" i="0">
                <a:solidFill>
                  <a:srgbClr val="E67E22"/>
                </a:solidFill>
                <a:latin typeface="PingFang SC"/>
              </a:rPr>
              <a:t>One-ID · CDP · 会员 · 生命周期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2920" y="4544568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333333"/>
                </a:solidFill>
                <a:latin typeface="PingFang SC"/>
              </a:rPr>
              <a:t>底层能力中台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7200" y="3657600"/>
            <a:ext cx="371856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内容中台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7200" y="4206240"/>
            <a:ext cx="3718560" cy="6858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8640" y="4261104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1" i="0">
                <a:solidFill>
                  <a:srgbClr val="1F4E79"/>
                </a:solidFill>
                <a:latin typeface="PingFang SC"/>
              </a:rPr>
              <a:t>PGC · UGC · AIGC · 社区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8640" y="4544568"/>
            <a:ext cx="353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333333"/>
                </a:solidFill>
                <a:latin typeface="PingFang SC"/>
              </a:rPr>
              <a:t>底层能力中台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PingFang SC"/>
              </a:rPr>
              <a:t>③ 为什么这样分？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65760" y="5440680"/>
          <a:ext cx="11430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560320"/>
                <a:gridCol w="5212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业务战斗单元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解决「跨触点体验跑通」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独立站 × APP 联合工作组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用户体验问题不是「能力缺失」，是「能力没跨触点跑通」—— 必须业务战斗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底层能力中台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解决「底层能力统一」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用户资产中台 · 内容中台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数据 / 内容是「底层资产」—— 必须由专门的中台来沉淀和服务全业务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365760" y="640080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中台解决「底层能力统一」 · 联合工作组解决「顶层业务爆发力」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方案 1 · 用户体验 → 独立站 × APP 联合工作组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5/13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解决「体验割裂」· 业务战斗单元 · 不是中台 · 直接干漏斗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303520" cy="36576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✕  现状痛点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5303520" cy="1691640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 wrap="square"/>
          <a:lstStyle/>
          <a:p>
            <a:pPr algn="ctr"/>
            <a:r>
              <a:rPr sz="1200" b="1">
                <a:solidFill>
                  <a:srgbClr val="C03A2B"/>
                </a:solidFill>
                <a:latin typeface="PingFang SC"/>
              </a:rPr>
              <a:t>用户体验跨触点割裂 · 直接拉低漏斗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Add-to-Cart CVR 8.4%（vs BM 10-15%）—— 信任度不足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Checkout 43.9%（vs BM 50-60%）—— 登录 / 支付门槛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APP 累计消费 $800 用户回独立站被识别为「新客」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C03A2B"/>
                </a:solidFill>
                <a:latin typeface="PingFang SC"/>
              </a:rPr>
              <a:t>→  这不是「能力建设」问题，是「能力跨触点跑通」问题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566160"/>
            <a:ext cx="5303520" cy="36576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✓  独立站 × APP 联合工作组 · 业务战斗单元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977639"/>
          <a:ext cx="5303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11480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定位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业务战斗单元 · 不是中台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编制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独立站团队 + APP 团队 · 共担转化 KPI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第一仗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3 个月内修复 Add-to-Cart + Checkout 漏斗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核心抓手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把 APP 已有能力「回灌」独立站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资源调用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用户资产中台 + 内容中台 全力配合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852160" y="1280160"/>
            <a:ext cx="5943600" cy="3657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★ APP 能力可直接回灌 · 用户体验立即改善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91640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APP 会员体系已成型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积分 + 等级 + 权益 → 立刻回灌独立站会员价识别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615184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615184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IoT 设备绑定数据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知道用户已购 M5 / M6 / M9 → 独立站精准推配件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538728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538728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生命周期行为数据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孕期 / 哺乳 / 断奶阶段 → 独立站个性化呈现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4462272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462272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AI Agent 已上线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智能客服 SDK → 嵌入独立站 PDP · 答疑秒回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5385816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5385816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高频触达能力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Push / 站内信 → 独立站弃单召回 · 触达成本近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用户体验问题不靠「再建一个中台」解决，靠「让 APP 已有能力跨过组织墙」解决 —— 这是联合工作组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方案 2 · 数据打通 → 用户资产中台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6/13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解决「数据散落 + 决策慢」· One-ID + CDP + 会员 + 生命周期 一揽子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303520" cy="36576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✕  现状痛点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5303520" cy="1691640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 wrap="square"/>
          <a:lstStyle/>
          <a:p>
            <a:pPr algn="ctr"/>
            <a:r>
              <a:rPr sz="1200" b="1">
                <a:solidFill>
                  <a:srgbClr val="C03A2B"/>
                </a:solidFill>
                <a:latin typeface="PingFang SC"/>
              </a:rPr>
              <a:t>用户数据散落 · 跨触点无法识别 · 洞察缺位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独立站 ID-A / APP ID-B / 会员系统 ID-C 互不互通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用户行为 / 购买 / 设备数据各自为政，没有统一画像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数据散落 · 决策延迟 1-2 周 · 快赢策略无法快速验证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C03A2B"/>
                </a:solidFill>
                <a:latin typeface="PingFang SC"/>
              </a:rPr>
              <a:t>→  既没法服务投放，也没法服务运营，更没法驱动 AI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566160"/>
            <a:ext cx="5303520" cy="3657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✓  用户资产中台 · 职能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977639"/>
          <a:ext cx="5303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One-ID 体系</a:t>
                      </a:r>
                    </a:p>
                  </a:txBody>
                  <a:tcPr marL="76200" marR="76200" marT="50800" marB="50800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站 / APP / 小程序 / 会员系统 统一身份</a:t>
                      </a:r>
                    </a:p>
                  </a:txBody>
                  <a:tcPr marL="76200" marR="76200" marT="50800" marB="50800" anchor="ctr">
                    <a:solidFill>
                      <a:srgbClr val="FDEBD0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CDP 用户画像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行为 + 购买 + 设备数据统一沉淀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会员体系全局化</a:t>
                      </a:r>
                    </a:p>
                  </a:txBody>
                  <a:tcPr marL="76200" marR="76200" marT="50800" marB="50800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等级 / 积分 / 权益 跨触点识别</a:t>
                      </a:r>
                    </a:p>
                  </a:txBody>
                  <a:tcPr marL="76200" marR="76200" marT="50800" marB="50800" anchor="ctr">
                    <a:solidFill>
                      <a:srgbClr val="FDEBD0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生命周期管理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孕期 → 哺乳 → 断奶 → 二胎 精准标签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数据洞察服务</a:t>
                      </a:r>
                    </a:p>
                  </a:txBody>
                  <a:tcPr marL="76200" marR="76200" marT="50800" marB="50800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为联合工作组 / 内容中台 / 投放全员提供</a:t>
                      </a:r>
                    </a:p>
                  </a:txBody>
                  <a:tcPr marL="76200" marR="76200" marT="50800" marB="50800" anchor="ctr"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852160" y="1280160"/>
            <a:ext cx="5943600" cy="3657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★ APP 生态能力证明 · 为什么 APP 是数据中台天然底座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91640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APP 会员体系已成型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积分 + 等级 + 权益已运行 · 是 One-ID 的天然起点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615184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615184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APP 是高频数据源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DAU / 停留 / 行为事件埋点齐全 · 独立站只有 Session + 订单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538728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538728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IoT 设备数据独有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M5/M6/M9 型号 / 使用时长 / 固件版本 —— 独立站永远拿不到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4462272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462272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生命周期行为数据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吸奶记录 / 喂养 / 睡眠 / 生长曲线 —— 独有的生命周期信号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5385816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5385816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CDP 用户分层已就绪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APP 端基础标签体系已在跑 · 可直接对外输出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用户资产中台的底层能力，APP 生态已跑通 60%+ —— 整合即用，无需从零建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方案 3 · 内容与社区 → 内容中台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7/13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解决「两个社区重复投入」· UGC 资产化 · AI 创作工具化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303520" cy="36576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✕  现状痛点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5303520" cy="1691640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 wrap="square"/>
          <a:lstStyle/>
          <a:p>
            <a:pPr algn="ctr"/>
            <a:r>
              <a:rPr sz="1200" b="1">
                <a:solidFill>
                  <a:srgbClr val="C03A2B"/>
                </a:solidFill>
                <a:latin typeface="PingFang SC"/>
              </a:rPr>
              <a:t>两个社区 · 两个团队 · 两套资产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独立站社区与 APP 社区各自规划 · 内容池不互通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素材规划未充分考虑多个触点 · 无法重复使用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  <a:latin typeface="PingFang SC"/>
              </a:rPr>
              <a:t>• 创作者 / UGC 身份被分裂，头部难被跨触点识别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C03A2B"/>
                </a:solidFill>
                <a:latin typeface="PingFang SC"/>
              </a:rPr>
              <a:t>→  资源重复投入 · 品牌声音不统一 · UGC 无法资产化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566160"/>
            <a:ext cx="5303520" cy="36576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✓  内容中台 · 职能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977639"/>
          <a:ext cx="5303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统一内容池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PGC / UGC / AIGC 全部沉淀到中台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双社区整合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独立站社区 + APP 社区 → 一个品牌社区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创作者激励体系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积分 / 打赏 / 分级 · 跨触点统一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AI 创作工具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AI 一键生成多触点素材（图 / 视频 / 文案）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内容数据服务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为投放 / 落地页 / Push 输出高转化素材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852160" y="1280160"/>
            <a:ext cx="5943600" cy="3657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★ APP 生态能力证明 · 内容与社区运营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91640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APP 社区已沉淀头部创作者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妈妈圈 / UGC / 问答 / 话题 持续运营 · 头部账号已成型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615184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615184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工具库反哺内容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8 个育儿计算器 / 吸奶记录 · 天然产生用户数据内容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538728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538728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AI 创作能力已就绪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AI Agent 可自动生成多格式素材（图文 / 短视频脚本）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4462272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462272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内容分发矩阵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Push / Feed / 个性化推荐 · 已验证转化能力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5385816"/>
            <a:ext cx="45720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✓5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5385816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7620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生命周期内容推送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333333"/>
                </a:solidFill>
                <a:latin typeface="PingFang SC"/>
              </a:rPr>
              <a:t>孕期 / 哺乳 / 断奶 精准内容 · 独立站 EDM 做不到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APP 社区是更活跃、更高频、更有 UGC 积累的一侧 —— 由 APP 主导内容中台最合理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APP 生态 · 六大底层能力总览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8/13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为什么 APP 是承接 3 个中台的天然底座 —— 过去 2 年已经搭完一半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88080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  <a:latin typeface="PingFang SC"/>
              </a:rPr>
              <a:t>📱
高频触达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Push / 站内信 / 站内弹窗
触达成本近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6720" y="137160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6720" y="1371600"/>
            <a:ext cx="3688080" cy="73152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3880" y="160020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C03A2B"/>
                </a:solidFill>
                <a:latin typeface="PingFang SC"/>
              </a:rPr>
              <a:t>🔐
会员与 One-ID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3880" y="269748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积分 / 等级 / 权益已跑通
跨触点识别的起点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80" y="137160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7680" y="1371600"/>
            <a:ext cx="3688080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160020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1F4E79"/>
                </a:solidFill>
                <a:latin typeface="PingFang SC"/>
              </a:rPr>
              <a:t>🏷️
行为数据 &amp; CDP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269748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设备 + 行为 + 生命周期
独立站无法独立拥有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6616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3688080" cy="73152"/>
          </a:xfrm>
          <a:prstGeom prst="rect">
            <a:avLst/>
          </a:prstGeom>
          <a:solidFill>
            <a:srgbClr val="5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9476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5B2E8A"/>
                </a:solidFill>
                <a:latin typeface="PingFang SC"/>
              </a:rPr>
              <a:t>🤖
AI Agent &amp; 推荐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智能客服 / 个性化内容
已上线 · 可复用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6720" y="356616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36720" y="3566160"/>
            <a:ext cx="3688080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3880" y="379476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PingFang SC"/>
              </a:rPr>
              <a:t>👥
社区与 UGC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3880" y="489204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妈妈圈 / 问答 / 话题
头部创作者已沉淀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7680" y="3566160"/>
            <a:ext cx="36880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7680" y="3566160"/>
            <a:ext cx="3688080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4840" y="3794760"/>
            <a:ext cx="3413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ctr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  <a:latin typeface="PingFang SC"/>
              </a:rPr>
              <a:t>🧪
快赢 AB 实验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4840" y="4892040"/>
            <a:ext cx="34137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PingFang SC"/>
              </a:rPr>
              <a:t>每周跑多个 AB
快赢验证周期 &lt; 3 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6126480"/>
            <a:ext cx="1143000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这六大能力不是「APP 部门的能力」—— 是「公司 DTC 底层资产」
3 个中台只需要把这些能力从 APP 放大到全触点，无需从零建设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独立站 × APP 联合工作组 · 专攻转化漏斗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9/13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针对 Add-to-Cart 预警 + Checkout/Purchase 严重流失 · 3 个月快赢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1143000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目标：3 个月内 Add-to-Cart CVR 8.4% → 12% · Checkout 43.9% → 52% · 最终 DTC 占比提升 3-5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工作组聚焦 3 个漏斗环节 · APP 能力直接回灌独立站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40280"/>
            <a:ext cx="3718560" cy="457200"/>
          </a:xfrm>
          <a:prstGeom prst="round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🚨 Add to Cart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37185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C03A2B"/>
                </a:solidFill>
                <a:latin typeface="PingFang SC"/>
              </a:rPr>
              <a:t>CVR 8.4% → 目标 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PingFang SC"/>
              </a:rPr>
              <a:t>根因：信任度不足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474720"/>
            <a:ext cx="3718560" cy="27889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C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wrap="square"/>
          <a:lstStyle/>
          <a:p>
            <a:pPr algn="ctr"/>
            <a:r>
              <a:rPr sz="1100" b="1">
                <a:solidFill>
                  <a:srgbClr val="C03A2B"/>
                </a:solidFill>
                <a:latin typeface="PingFang SC"/>
              </a:rPr>
              <a:t>APP 能力回灌独立站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真实妈妈 UGC 回灌独立站 PDP（详情页）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识别「用户已有 M5」→ 独立站精准推荐配件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会员等级带回独立站，不再被当「新客」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AI 客服 SDK 嵌入独立站 PDP · 答疑秒回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1480" y="2240280"/>
            <a:ext cx="371856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⚠️ Checkout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1480" y="2743200"/>
            <a:ext cx="37185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E67E22"/>
                </a:solidFill>
                <a:latin typeface="PingFang SC"/>
              </a:rPr>
              <a:t>CVR 43.9% → 目标 52%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1480" y="315468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PingFang SC"/>
              </a:rPr>
              <a:t>根因：支付 / 登录门槛高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1480" y="3474720"/>
            <a:ext cx="3718560" cy="27889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wrap="square"/>
          <a:lstStyle/>
          <a:p>
            <a:pPr algn="ctr"/>
            <a:r>
              <a:rPr sz="1100" b="1">
                <a:solidFill>
                  <a:srgbClr val="E67E22"/>
                </a:solidFill>
                <a:latin typeface="PingFang SC"/>
              </a:rPr>
              <a:t>APP 能力回灌独立站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一键登录独立站（Sign in with Momcozy）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已存地址 / 支付方式 / 收货信息同步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已领取的优惠券在独立站结算自动识别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Push 购物车召回（弃单用户 2h 内推送）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2240280"/>
            <a:ext cx="371856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⚠️ Purchase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2743200"/>
            <a:ext cx="37185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2E7D32"/>
                </a:solidFill>
                <a:latin typeface="PingFang SC"/>
              </a:rPr>
              <a:t>CVR 41.6% → 目标 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0" y="3154680"/>
            <a:ext cx="371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PingFang SC"/>
              </a:rPr>
              <a:t>根因：物流 / 最后一步门槛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7200" y="3474720"/>
            <a:ext cx="3718560" cy="27889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wrap="square"/>
          <a:lstStyle/>
          <a:p>
            <a:pPr algn="ctr"/>
            <a:r>
              <a:rPr sz="1100" b="1">
                <a:solidFill>
                  <a:srgbClr val="2E7D32"/>
                </a:solidFill>
                <a:latin typeface="PingFang SC"/>
              </a:rPr>
              <a:t>APP 能力回灌独立站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物流透明化 · APP 订单查询与独立站统一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内会员价在独立站结算同步呈现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APP 积分可在独立站抵扣 · 拉高转化动机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333333"/>
                </a:solidFill>
                <a:latin typeface="PingFang SC"/>
              </a:rPr>
              <a:t>• 失败订单回流 APP 继续推荐 · 不流失用户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联合工作组 = 独立站转化 + APP 能力 · 独立站负责页面，APP 负责身份 / 数据 / 内容 / 智能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新组织架构 · 2 中台 + 1 联合工作组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10/13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底层能力靠中台 · 业务战斗靠联合组 · 现有部门「再定位」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234440"/>
            <a:ext cx="7589520" cy="457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DTC 战略委员会（创始人 + DTC Leader + CMO + CTO）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691640"/>
            <a:ext cx="0" cy="22860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1920240"/>
            <a:ext cx="7589520" cy="45720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DTC 事业部（一个 Leader 统管）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697480"/>
            <a:ext cx="7616952" cy="0"/>
          </a:xfrm>
          <a:prstGeom prst="line">
            <a:avLst/>
          </a:prstGeom>
          <a:ln w="25400">
            <a:solidFill>
              <a:srgbClr val="1F4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377440"/>
            <a:ext cx="0" cy="320040"/>
          </a:xfrm>
          <a:prstGeom prst="line">
            <a:avLst/>
          </a:prstGeom>
          <a:ln w="25400">
            <a:solidFill>
              <a:srgbClr val="1F4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75407.5" y="2697480"/>
            <a:ext cx="0.0" cy="137160"/>
          </a:xfrm>
          <a:prstGeom prst="line">
            <a:avLst/>
          </a:prstGeom>
          <a:ln w="19050">
            <a:solidFill>
              <a:srgbClr val="1F4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9487" y="2834640"/>
            <a:ext cx="3291840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独立站 × APP
联合工作组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487" y="3474720"/>
            <a:ext cx="32918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Head of DTC Commerce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487" y="384048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50" b="0">
                <a:solidFill>
                  <a:srgbClr val="333333"/>
                </a:solidFill>
                <a:latin typeface="PingFang SC"/>
              </a:rPr>
              <a:t>用户体验跨触点跑通
漏斗修复 · 业务战斗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487" y="4617720"/>
            <a:ext cx="32918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50" b="0">
                <a:solidFill>
                  <a:srgbClr val="1F4E2C"/>
                </a:solidFill>
                <a:latin typeface="PingFang SC"/>
              </a:rPr>
              <a:t>KPI
独立站 GMV · 转化率
Add-Cart / Checkout / Purchase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.5" y="2697480"/>
            <a:ext cx="0.0" cy="13716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449927" y="2834640"/>
            <a:ext cx="3291840" cy="6400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用户资产中台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9927" y="3474720"/>
            <a:ext cx="32918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E67E22"/>
                </a:solidFill>
                <a:latin typeface="PingFang SC"/>
              </a:rPr>
              <a:t>Head of CRM &amp;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9927" y="384048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50" b="0">
                <a:solidFill>
                  <a:srgbClr val="333333"/>
                </a:solidFill>
                <a:latin typeface="PingFang SC"/>
              </a:rPr>
              <a:t>One-ID · CDP
会员 · 生命周期 · 数据洞察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49927" y="4617720"/>
            <a:ext cx="32918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50" b="0">
                <a:solidFill>
                  <a:srgbClr val="E67E22"/>
                </a:solidFill>
                <a:latin typeface="PingFang SC"/>
              </a:rPr>
              <a:t>KPI
ID 打通率 · LTV
复购 · 会员渗透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16287.5" y="2697480"/>
            <a:ext cx="0.0" cy="13716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970367" y="2834640"/>
            <a:ext cx="329184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内容中台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0367" y="3474720"/>
            <a:ext cx="32918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Head of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0367" y="384048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50" b="0">
                <a:solidFill>
                  <a:srgbClr val="333333"/>
                </a:solidFill>
                <a:latin typeface="PingFang SC"/>
              </a:rPr>
              <a:t>PGC · UGC · AIGC
社区 · 创作者激励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0367" y="4617720"/>
            <a:ext cx="32918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50" b="0">
                <a:solidFill>
                  <a:srgbClr val="1F4E79"/>
                </a:solidFill>
                <a:latin typeface="PingFang SC"/>
              </a:rPr>
              <a:t>KPI
DAU · UGC 月产
内容驱动转化率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2578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PingFang SC"/>
              </a:rPr>
              <a:t>现状部门的「再定位」（不是合并、不是裁撤）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577840"/>
            <a:ext cx="18669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1F4E2C"/>
                </a:solidFill>
                <a:latin typeface="PingFang SC"/>
              </a:rPr>
              <a:t>独立站部 → 联合工作组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78380" y="5577840"/>
            <a:ext cx="18669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1F4E2C"/>
                </a:solidFill>
                <a:latin typeface="PingFang SC"/>
              </a:rPr>
              <a:t>流量部 → 联合工作组执行臂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91000" y="5577840"/>
            <a:ext cx="18669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1F4E2C"/>
                </a:solidFill>
                <a:latin typeface="PingFang SC"/>
              </a:rPr>
              <a:t>APP 部 → 拆分进 3 个单元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03620" y="5577840"/>
            <a:ext cx="1866900" cy="64008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E67E22"/>
                </a:solidFill>
                <a:latin typeface="PingFang SC"/>
              </a:rPr>
              <a:t>会员部 → 用户资产中台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6240" y="5577840"/>
            <a:ext cx="1866900" cy="6400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1F4E79"/>
                </a:solidFill>
                <a:latin typeface="PingFang SC"/>
              </a:rPr>
              <a:t>独立站社区 → 内容中台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8860" y="5577840"/>
            <a:ext cx="1866900" cy="6400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1">
                <a:solidFill>
                  <a:srgbClr val="1F4E79"/>
                </a:solidFill>
                <a:latin typeface="PingFang SC"/>
              </a:rPr>
              <a:t>APP 社区 → 内容中台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统一目标 · 全局组织 · 高效协作 —— 正面回应现状图的「分散作战」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预期成果 · 转化漏斗修复路径 + DTC 占比提升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11/13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3 个月快赢 · 6 个月见效 · 12 个月质变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转化漏斗 · 现状 → 12 个月后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54480"/>
          <a:ext cx="5669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1005840"/>
                <a:gridCol w="2468880"/>
              </a:tblGrid>
              <a:tr h="43107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环节</a:t>
                      </a:r>
                    </a:p>
                  </a:txBody>
                  <a:tcPr marL="76200" marR="76200" marT="50800" marB="50800" anchor="ctr">
                    <a:solidFill>
                      <a:srgbClr val="1F4E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现状</a:t>
                      </a:r>
                    </a:p>
                  </a:txBody>
                  <a:tcPr marL="76200" marR="76200" marT="50800" marB="50800" anchor="ctr">
                    <a:solidFill>
                      <a:srgbClr val="1F4E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12 月目标</a:t>
                      </a:r>
                    </a:p>
                  </a:txBody>
                  <a:tcPr marL="76200" marR="76200" marT="50800" marB="50800" anchor="ctr">
                    <a:solidFill>
                      <a:srgbClr val="1F4E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提升来源</a:t>
                      </a:r>
                    </a:p>
                  </a:txBody>
                  <a:tcPr marL="76200" marR="76200" marT="50800" marB="50800" anchor="ctr">
                    <a:solidFill>
                      <a:srgbClr val="1F4E2C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Session Start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20.3M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22M+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增长中台优化投放质量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View Product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42.0%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45%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落地页素材（内容中台）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Add to Cart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8.4% 🚨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12% ✓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APP 信任背书 + UGC 回灌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Checkout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43.9% 🚨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52% ✓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APP 一键登录 / 支付 / 地址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Purchase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41.6% 🚨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55% ✓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积分抵扣 + 会员价识别</a:t>
                      </a:r>
                    </a:p>
                  </a:txBody>
                  <a:tcPr marL="76200" marR="76200" marT="50800" marB="50800" anchor="ctr">
                    <a:solidFill>
                      <a:srgbClr val="FBE5E1"/>
                    </a:solidFill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最终转化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0.65%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1.5%+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整体 2.3x 提升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PingFang SC"/>
              </a:rPr>
              <a:t>DTC 占比提升 · 阶段路径（24 个月）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1097280" cy="7498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阶段 1 · 基建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554480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1F4E79"/>
                </a:solidFill>
                <a:latin typeface="PingFang SC"/>
              </a:rPr>
              <a:t>0–3 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554480"/>
            <a:ext cx="118872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79"/>
                </a:solidFill>
                <a:latin typeface="PingFang SC"/>
              </a:rPr>
              <a:t>10% → 11%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55480" y="1554480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l"/>
            <a:r>
              <a:rPr sz="950" b="0">
                <a:solidFill>
                  <a:srgbClr val="333333"/>
                </a:solidFill>
                <a:latin typeface="PingFang SC"/>
              </a:rPr>
              <a:t>联合工作组立项 · 3 中台筹建 · One-ID 启动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350008"/>
            <a:ext cx="1097280" cy="74980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阶段 2 · 快赢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350008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E67E22"/>
                </a:solidFill>
                <a:latin typeface="PingFang SC"/>
              </a:rPr>
              <a:t>3–6 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350008"/>
            <a:ext cx="118872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E67E22"/>
                </a:solidFill>
                <a:latin typeface="PingFang SC"/>
              </a:rPr>
              <a:t>11% → 13%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2350008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l"/>
            <a:r>
              <a:rPr sz="950" b="0">
                <a:solidFill>
                  <a:srgbClr val="333333"/>
                </a:solidFill>
                <a:latin typeface="PingFang SC"/>
              </a:rPr>
              <a:t>漏斗修复首轮 · Add-to-Cart 破 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45536"/>
            <a:ext cx="1097280" cy="749808"/>
          </a:xfrm>
          <a:prstGeom prst="rect">
            <a:avLst/>
          </a:prstGeom>
          <a:solidFill>
            <a:srgbClr val="5B2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阶段 3 · 协同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3145536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5B2E8A"/>
                </a:solidFill>
                <a:latin typeface="PingFang SC"/>
              </a:rPr>
              <a:t>6–12 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145536"/>
            <a:ext cx="118872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5B2E8A"/>
                </a:solidFill>
                <a:latin typeface="PingFang SC"/>
              </a:rPr>
              <a:t>13% → 16%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3145536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l"/>
            <a:r>
              <a:rPr sz="950" b="0">
                <a:solidFill>
                  <a:srgbClr val="333333"/>
                </a:solidFill>
                <a:latin typeface="PingFang SC"/>
              </a:rPr>
              <a:t>3 中台全运转 · APP 能力全量回灌独立站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41064"/>
            <a:ext cx="1097280" cy="749808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阶段 4 · 放大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3941064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1F4E2C"/>
                </a:solidFill>
                <a:latin typeface="PingFang SC"/>
              </a:rPr>
              <a:t>12–24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41064"/>
            <a:ext cx="118872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1F4E2C"/>
                </a:solidFill>
                <a:latin typeface="PingFang SC"/>
              </a:rPr>
              <a:t>16% → 20%+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394106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l"/>
            <a:r>
              <a:rPr sz="950" b="0">
                <a:solidFill>
                  <a:srgbClr val="333333"/>
                </a:solidFill>
                <a:latin typeface="PingFang SC"/>
              </a:rPr>
              <a:t>AI Agent 全量驱动 · 站 / APP 深度融合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846320"/>
            <a:ext cx="11430000" cy="457200"/>
          </a:xfrm>
          <a:prstGeom prst="roundRect">
            <a:avLst/>
          </a:prstGeom>
          <a:solidFill>
            <a:srgbClr val="FDEBD0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300" b="1">
                <a:solidFill>
                  <a:srgbClr val="E67E22"/>
                </a:solidFill>
                <a:latin typeface="PingFang SC"/>
              </a:rPr>
              <a:t>关键判断：这些提升不是「独立站更努力」就能得到 —— 必须靠 3 中台 + 联合工作组同步运行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4068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PingFang SC"/>
              </a:rPr>
              <a:t>Year 1 KPI 承诺 · 联合工作组 + 2 个中台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65760" y="5760720"/>
          <a:ext cx="1143000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联合工作组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Add-to-Cart 8.4% → 12% · Checkout 43.9% → 52% · DTC 占比 +3-5pp</a:t>
                      </a:r>
                    </a:p>
                  </a:txBody>
                  <a:tcPr marL="76200" marR="76200" marT="50800" marB="50800" anchor="ctr">
                    <a:solidFill>
                      <a:srgbClr val="E8F5E9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用户资产中台</a:t>
                      </a:r>
                    </a:p>
                  </a:txBody>
                  <a:tcPr marL="76200" marR="76200" marT="50800" marB="50800" anchor="ctr"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One-ID 打通率 ≥ 80% · 会员 GMV 渗透率 ≥ 50% · 复购 +25%</a:t>
                      </a:r>
                    </a:p>
                  </a:txBody>
                  <a:tcPr marL="76200" marR="76200" marT="50800" marB="50800" anchor="ctr">
                    <a:solidFill>
                      <a:srgbClr val="FDEBD0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PingFang SC"/>
                        </a:rPr>
                        <a:t>内容中台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PingFang SC"/>
                        </a:rPr>
                        <a:t>双社区合并 · UGC 月产 +200% · 内容驱动转化率 +15%</a:t>
                      </a:r>
                    </a:p>
                  </a:txBody>
                  <a:tcPr marL="76200" marR="76200" marT="50800" marB="508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65760" y="6565392"/>
            <a:ext cx="11430000" cy="2468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  <a:latin typeface="PingFang SC"/>
              </a:rPr>
              <a:t>APP 事业部 · DTC 三大痛点解决方案 · v4 · 2026/05/12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</a:rPr>
              <a:t>下一步 · 三个待决议题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r"/>
            <a:r>
              <a:rPr sz="1100" b="0" i="0">
                <a:solidFill>
                  <a:srgbClr val="E8F5E9"/>
                </a:solidFill>
                <a:latin typeface="PingFang SC"/>
              </a:rPr>
              <a:t>12/13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PingFang SC"/>
              </a:rPr>
              <a:t>本次汇报期待创始人与高管团队在以下 3 个议题上形成共识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554480"/>
            <a:ext cx="914400" cy="914400"/>
          </a:xfrm>
          <a:prstGeom prst="ellipse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280160"/>
            <a:ext cx="804672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wrap="square"/>
          <a:lstStyle/>
          <a:p>
            <a:pPr algn="ctr"/>
            <a:r>
              <a:rPr sz="1500" b="1">
                <a:solidFill>
                  <a:srgbClr val="1F4E2C"/>
                </a:solidFill>
                <a:latin typeface="PingFang SC"/>
              </a:rPr>
              <a:t>方向决议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333333"/>
                </a:solidFill>
                <a:latin typeface="PingFang SC"/>
              </a:rPr>
              <a:t>是否将「2 中台 + 1 联合工作组」列入 2026 DTC 战略重点？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28016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⏰  本月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208026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2C"/>
                </a:solidFill>
                <a:latin typeface="PingFang SC"/>
              </a:rPr>
              <a:t>👤  创始人 / 战略委员会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200400"/>
            <a:ext cx="914400" cy="91440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926080"/>
            <a:ext cx="804672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wrap="square"/>
          <a:lstStyle/>
          <a:p>
            <a:pPr algn="ctr"/>
            <a:r>
              <a:rPr sz="1500" b="1">
                <a:solidFill>
                  <a:srgbClr val="E67E22"/>
                </a:solidFill>
                <a:latin typeface="PingFang SC"/>
              </a:rPr>
              <a:t>人选讨论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333333"/>
                </a:solidFill>
                <a:latin typeface="PingFang SC"/>
              </a:rPr>
              <a:t>联合工作组 Head + 用户资产中台 Head + 内容中台 Head 共 3 人选
（内部竞聘 + 外部招募 · APP 事业部内部储备）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92608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E67E22"/>
                </a:solidFill>
                <a:latin typeface="PingFang SC"/>
              </a:rPr>
              <a:t>⏰  1 个月内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372618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E67E22"/>
                </a:solidFill>
                <a:latin typeface="PingFang SC"/>
              </a:rPr>
              <a:t>👤  创始人 + HR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4846320"/>
            <a:ext cx="914400" cy="9144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4572000"/>
            <a:ext cx="804672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wrap="square"/>
          <a:lstStyle/>
          <a:p>
            <a:pPr algn="ctr"/>
            <a:r>
              <a:rPr sz="1500" b="1">
                <a:solidFill>
                  <a:srgbClr val="1F4E79"/>
                </a:solidFill>
                <a:latin typeface="PingFang SC"/>
              </a:rPr>
              <a:t>过渡期方案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333333"/>
                </a:solidFill>
                <a:latin typeface="PingFang SC"/>
              </a:rPr>
              <a:t>90 天过渡期：组织切换、KPI 双轨、首战验证
（联合工作组 3 个月内出转化漏斗修复首战果）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457200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⏰  2 个月内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5372100"/>
            <a:ext cx="2148840" cy="7086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1F4E79"/>
                </a:solidFill>
                <a:latin typeface="PingFang SC"/>
              </a:rPr>
              <a:t>👤  候选 Leader + HR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6355080"/>
            <a:ext cx="11430000" cy="320040"/>
          </a:xfrm>
          <a:prstGeom prst="round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立场诚恳 · 提案中立 · 只为公司战略做对的事 —— 期待讨论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600" b="0" i="1">
                <a:solidFill>
                  <a:srgbClr val="FDEBD0"/>
                </a:solidFill>
                <a:latin typeface="PingFang SC"/>
              </a:rPr>
              <a:t>汇报结束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PingFang SC"/>
              </a:rPr>
              <a:t>期待讨论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4389120"/>
            <a:ext cx="1828800" cy="2743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300" b="0" i="0">
                <a:solidFill>
                  <a:srgbClr val="E8F5E9"/>
                </a:solidFill>
                <a:latin typeface="PingFang SC"/>
              </a:rPr>
              <a:t>① 2 中台 + 1 联合工作组 是否列入战略重点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300" b="0" i="0">
                <a:solidFill>
                  <a:srgbClr val="E8F5E9"/>
                </a:solidFill>
                <a:latin typeface="PingFang SC"/>
              </a:rPr>
              <a:t>② 中台 / 联合组 共 3 个 Head 人选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300" b="0" i="0">
                <a:solidFill>
                  <a:srgbClr val="E8F5E9"/>
                </a:solidFill>
                <a:latin typeface="PingFang SC"/>
              </a:rPr>
              <a:t>③ 90 天过渡期方案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38100" bIns="38100" anchor="t">
            <a:spAutoFit/>
          </a:bodyPr>
          <a:lstStyle/>
          <a:p>
            <a:pPr algn="ctr"/>
            <a:r>
              <a:rPr sz="1100" b="0" i="1">
                <a:solidFill>
                  <a:srgbClr val="C8E6C9"/>
                </a:solidFill>
                <a:latin typeface="PingFang SC"/>
              </a:rPr>
              <a:t>APP 事业部  ·  代表「用户视角 + 全局视角」  ·  2026/05/12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